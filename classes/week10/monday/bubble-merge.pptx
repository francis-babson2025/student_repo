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70" r:id="rId13"/>
    <p:sldId id="271" r:id="rId14"/>
    <p:sldId id="272" r:id="rId15"/>
    <p:sldId id="276" r:id="rId16"/>
    <p:sldId id="277" r:id="rId17"/>
  </p:sldIdLst>
  <p:sldSz cx="9144000" cy="6858000" type="screen4x3"/>
  <p:notesSz cx="6918325" cy="9385300"/>
  <p:defaultTextStyle>
    <a:lvl1pPr marL="0" indent="0" algn="l" defTabSz="914400" rtl="0" fontAlgn="base">
      <a:lnSpc>
        <a:spcPct val="100000"/>
      </a:lnSpc>
      <a:spcBef>
        <a:spcPct val="0"/>
      </a:spcBef>
      <a:spcAft>
        <a:spcPct val="0"/>
      </a:spcAft>
      <a:buNone/>
      <a:defRPr lang="en-US" sz="2400" b="0" i="0" u="none" baseline="0" dirty="0" smtClean="0">
        <a:solidFill>
          <a:schemeClr val="tx1"/>
        </a:solidFill>
        <a:latin typeface="Arial" pitchFamily="34" charset="0"/>
      </a:defRPr>
    </a:lvl1pPr>
    <a:lvl2pPr marL="457200" indent="0">
      <a:lnSpc>
        <a:spcPct val="100000"/>
      </a:lnSpc>
      <a:spcBef>
        <a:spcPct val="0"/>
      </a:spcBef>
      <a:spcAft>
        <a:spcPct val="0"/>
      </a:spcAft>
      <a:buNone/>
      <a:defRPr lang="en-US" sz="2400" b="0" i="0" u="none" dirty="0" smtClean="0">
        <a:solidFill>
          <a:schemeClr val="tx1"/>
        </a:solidFill>
        <a:latin typeface="Arial" pitchFamily="34" charset="0"/>
      </a:defRPr>
    </a:lvl2pPr>
    <a:lvl3pPr marL="914400" indent="0">
      <a:lnSpc>
        <a:spcPct val="100000"/>
      </a:lnSpc>
      <a:spcBef>
        <a:spcPct val="0"/>
      </a:spcBef>
      <a:spcAft>
        <a:spcPct val="0"/>
      </a:spcAft>
      <a:buNone/>
      <a:defRPr lang="en-US" sz="2400" b="0" i="0" u="none" dirty="0" smtClean="0">
        <a:solidFill>
          <a:schemeClr val="tx1"/>
        </a:solidFill>
        <a:latin typeface="Arial" pitchFamily="34" charset="0"/>
      </a:defRPr>
    </a:lvl3pPr>
    <a:lvl4pPr marL="1371600" indent="0">
      <a:lnSpc>
        <a:spcPct val="100000"/>
      </a:lnSpc>
      <a:spcBef>
        <a:spcPct val="0"/>
      </a:spcBef>
      <a:spcAft>
        <a:spcPct val="0"/>
      </a:spcAft>
      <a:buNone/>
      <a:defRPr lang="en-US" sz="2400" b="0" i="0" u="none" dirty="0" smtClean="0">
        <a:solidFill>
          <a:schemeClr val="tx1"/>
        </a:solidFill>
        <a:latin typeface="Arial" pitchFamily="34" charset="0"/>
      </a:defRPr>
    </a:lvl4pPr>
    <a:lvl5pPr marL="1828800" indent="0">
      <a:lnSpc>
        <a:spcPct val="100000"/>
      </a:lnSpc>
      <a:spcBef>
        <a:spcPct val="0"/>
      </a:spcBef>
      <a:spcAft>
        <a:spcPct val="0"/>
      </a:spcAft>
      <a:buNone/>
      <a:defRPr lang="en-US" sz="2400" b="0" i="0" u="none" dirty="0" smtClean="0">
        <a:solidFill>
          <a:schemeClr val="tx1"/>
        </a:solidFill>
        <a:latin typeface="Arial" pitchFamily="34" charset="0"/>
      </a:defRPr>
    </a:lvl5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ED257E-E5EF-442B-C8D9-930C1F158C6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49" autoAdjust="0"/>
    <p:restoredTop sz="94660"/>
  </p:normalViewPr>
  <p:slideViewPr>
    <p:cSldViewPr snapToGrid="0">
      <p:cViewPr varScale="1">
        <p:scale>
          <a:sx n="98" d="100"/>
          <a:sy n="98" d="100"/>
        </p:scale>
        <p:origin x="18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97200" cy="477837"/>
          </a:xfrm>
          <a:prstGeom prst="rect">
            <a:avLst/>
          </a:prstGeom>
          <a:ln>
            <a:noFill/>
          </a:ln>
          <a:effectLst/>
        </p:spPr>
        <p:txBody>
          <a:bodyPr lIns="19595" tIns="0" rIns="19595" bIns="0" numCol="1"/>
          <a:lstStyle/>
          <a:p>
            <a:pPr defTabSz="939800"/>
            <a:r>
              <a:rPr lang="en-US" sz="1000" i="1" dirty="0"/>
              <a:t>*</a:t>
            </a:r>
          </a:p>
        </p:txBody>
      </p:sp>
      <p:sp>
        <p:nvSpPr>
          <p:cNvPr id="8" name="Text Box 8"/>
          <p:cNvSpPr>
            <a:spLocks noGrp="1"/>
          </p:cNvSpPr>
          <p:nvPr>
            <p:ph type="dt" idx="1"/>
          </p:nvPr>
        </p:nvSpPr>
        <p:spPr>
          <a:xfrm>
            <a:off x="3921125" y="0"/>
            <a:ext cx="2997200" cy="477837"/>
          </a:xfrm>
          <a:prstGeom prst="rect">
            <a:avLst/>
          </a:prstGeom>
          <a:ln>
            <a:noFill/>
          </a:ln>
          <a:effectLst/>
        </p:spPr>
        <p:txBody>
          <a:bodyPr lIns="19595" tIns="0" rIns="19595" bIns="0" numCol="1"/>
          <a:lstStyle/>
          <a:p>
            <a:pPr algn="r" defTabSz="939800"/>
            <a:r>
              <a:rPr lang="en-US" sz="1000" i="1" dirty="0"/>
              <a:t>*</a:t>
            </a:r>
          </a:p>
        </p:txBody>
      </p:sp>
      <p:sp>
        <p:nvSpPr>
          <p:cNvPr id="9" name="Text Box 9"/>
          <p:cNvSpPr>
            <a:spLocks noGrp="1" noRot="1" noChangeAspect="1"/>
          </p:cNvSpPr>
          <p:nvPr>
            <p:ph type="sldImg" idx="2"/>
          </p:nvPr>
        </p:nvSpPr>
        <p:spPr>
          <a:xfrm>
            <a:off x="1135062" y="722312"/>
            <a:ext cx="4648200" cy="3486150"/>
          </a:xfrm>
          <a:prstGeom prst="rect">
            <a:avLst/>
          </a:prstGeom>
          <a:ln w="127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0" name="Text Box 10"/>
          <p:cNvSpPr>
            <a:spLocks noGrp="1"/>
          </p:cNvSpPr>
          <p:nvPr>
            <p:ph type="body" sz="quarter" idx="3"/>
          </p:nvPr>
        </p:nvSpPr>
        <p:spPr>
          <a:xfrm>
            <a:off x="922337" y="4454525"/>
            <a:ext cx="5073650" cy="4214812"/>
          </a:xfrm>
          <a:prstGeom prst="rect">
            <a:avLst/>
          </a:prstGeom>
          <a:ln>
            <a:noFill/>
          </a:ln>
          <a:effectLst/>
        </p:spPr>
        <p:txBody>
          <a:bodyPr lIns="94708" tIns="47355" rIns="94708" bIns="47355" numCol="1"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11" name="Text Box 11"/>
          <p:cNvSpPr>
            <a:spLocks noGrp="1"/>
          </p:cNvSpPr>
          <p:nvPr>
            <p:ph type="ftr" sz="quarter" idx="4"/>
          </p:nvPr>
        </p:nvSpPr>
        <p:spPr>
          <a:xfrm>
            <a:off x="0" y="8907462"/>
            <a:ext cx="2997200" cy="477837"/>
          </a:xfrm>
          <a:prstGeom prst="rect">
            <a:avLst/>
          </a:prstGeom>
          <a:ln>
            <a:noFill/>
          </a:ln>
          <a:effectLst/>
        </p:spPr>
        <p:txBody>
          <a:bodyPr lIns="19595" tIns="0" rIns="19595" bIns="0" numCol="1" anchor="b"/>
          <a:lstStyle/>
          <a:p>
            <a:pPr defTabSz="939800"/>
            <a:r>
              <a:rPr lang="en-US" sz="1000" i="1" dirty="0"/>
              <a:t>*</a:t>
            </a:r>
          </a:p>
        </p:txBody>
      </p:sp>
      <p:sp>
        <p:nvSpPr>
          <p:cNvPr id="12" name="Text Box 12"/>
          <p:cNvSpPr>
            <a:spLocks noGrp="1"/>
          </p:cNvSpPr>
          <p:nvPr>
            <p:ph type="sldNum" sz="quarter" idx="5"/>
          </p:nvPr>
        </p:nvSpPr>
        <p:spPr>
          <a:xfrm>
            <a:off x="3921125" y="8907462"/>
            <a:ext cx="2997200" cy="477837"/>
          </a:xfrm>
          <a:prstGeom prst="rect">
            <a:avLst/>
          </a:prstGeom>
          <a:ln>
            <a:noFill/>
          </a:ln>
          <a:effectLst/>
        </p:spPr>
        <p:txBody>
          <a:bodyPr lIns="19595" tIns="0" rIns="19595" bIns="0" numCol="1" anchor="b"/>
          <a:lstStyle/>
          <a:p>
            <a:pPr algn="r" defTabSz="939800"/>
            <a:r>
              <a:rPr lang="en-US" sz="1000" i="1" dirty="0"/>
              <a:t>*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2" name="Text Box 3812"/>
          <p:cNvSpPr>
            <a:spLocks noGrp="1" noRot="1" noChangeAspect="1"/>
          </p:cNvSpPr>
          <p:nvPr>
            <p:ph type="sldImg"/>
          </p:nvPr>
        </p:nvSpPr>
        <p:spPr>
          <a:xfrm>
            <a:off x="1135062" y="722312"/>
            <a:ext cx="4648200" cy="3486150"/>
          </a:xfrm>
          <a:prstGeom prst="rect">
            <a:avLst/>
          </a:prstGeom>
        </p:spPr>
      </p:sp>
      <p:sp>
        <p:nvSpPr>
          <p:cNvPr id="3813" name="Text Box 3813"/>
          <p:cNvSpPr>
            <a:spLocks noGrp="1"/>
          </p:cNvSpPr>
          <p:nvPr>
            <p:ph type="body" idx="1"/>
          </p:nvPr>
        </p:nvSpPr>
        <p:spPr>
          <a:xfrm>
            <a:off x="922337" y="4454525"/>
            <a:ext cx="5073650" cy="4214812"/>
          </a:xfrm>
          <a:prstGeom prst="rect">
            <a:avLst/>
          </a:prstGeom>
        </p:spPr>
        <p:txBody>
          <a:bodyPr numCol="1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/>
            </a:lvl1pPr>
          </a:lstStyle>
          <a:p>
            <a:fld id="{C9600221-B624-45B7-9E68-D1D7975258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/>
            </a:lvl1pPr>
          </a:lstStyle>
          <a:p>
            <a:fld id="{A5BC7F78-48E6-4BBC-B0E1-56BD2A17FC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numCol="1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numCol="1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/>
            </a:lvl1pPr>
          </a:lstStyle>
          <a:p>
            <a:fld id="{146B05A8-4507-4941-A8ED-92C83DD237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/>
            </a:lvl1pPr>
          </a:lstStyle>
          <a:p>
            <a:fld id="{2D52B7B6-6F1B-4A62-B87E-81AD4998D87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/>
            </a:lvl1pPr>
          </a:lstStyle>
          <a:p>
            <a:fld id="{08F7B79A-4EA2-44AE-9F7F-F6A143AD22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/>
            </a:lvl1pPr>
          </a:lstStyle>
          <a:p>
            <a:fld id="{C543D10D-1B83-4EE9-8835-AFAF7628AD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/>
            </a:lvl1pPr>
          </a:lstStyle>
          <a:p>
            <a:fld id="{8A0F8399-60D2-4F5D-9CEE-64FA3803ED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ln>
            <a:noFill/>
          </a:ln>
          <a:effectLst/>
        </p:spPr>
        <p:txBody>
          <a:bodyPr lIns="92064" tIns="46033" rIns="92064" bIns="46033" numCol="1" anchor="ctr"/>
          <a:lstStyle/>
          <a:p>
            <a:endParaRPr/>
          </a:p>
        </p:txBody>
      </p:sp>
      <p:sp>
        <p:nvSpPr>
          <p:cNvPr id="2" name="Text Box 2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ln>
            <a:noFill/>
          </a:ln>
          <a:effectLst/>
        </p:spPr>
        <p:txBody>
          <a:bodyPr lIns="92064" tIns="46033" rIns="92064" bIns="46033" numCol="1"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3" name="Text Box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>
            <a:noFill/>
          </a:ln>
          <a:effectLst/>
        </p:spPr>
        <p:txBody>
          <a:bodyPr wrap="none" lIns="92064" tIns="46033" rIns="92064" bIns="46033" numCol="1" anchor="ctr"/>
          <a:lstStyle/>
          <a:p>
            <a:r>
              <a:rPr lang="en-US" sz="1400" dirty="0"/>
              <a:t>*</a:t>
            </a:r>
          </a:p>
        </p:txBody>
      </p:sp>
      <p:sp>
        <p:nvSpPr>
          <p:cNvPr id="4" name="Text Box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>
            <a:noFill/>
          </a:ln>
          <a:effectLst/>
        </p:spPr>
        <p:txBody>
          <a:bodyPr wrap="none" lIns="92064" tIns="46033" rIns="92064" bIns="46033" numCol="1" anchor="ctr"/>
          <a:lstStyle/>
          <a:p>
            <a:pPr algn="ctr"/>
            <a:r>
              <a:rPr lang="en-US" sz="1400" dirty="0"/>
              <a:t>*</a:t>
            </a:r>
          </a:p>
        </p:txBody>
      </p:sp>
      <p:sp>
        <p:nvSpPr>
          <p:cNvPr id="5" name="Text Box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>
            <a:noFill/>
          </a:ln>
          <a:effectLst/>
        </p:spPr>
        <p:txBody>
          <a:bodyPr wrap="none" lIns="92064" tIns="46033" rIns="92064" bIns="46033" numCol="1" anchor="ctr"/>
          <a:lstStyle/>
          <a:p>
            <a:pPr algn="r"/>
            <a:r>
              <a:rPr lang="en-US" sz="1400" dirty="0"/>
              <a:t>Slide *</a:t>
            </a:r>
          </a:p>
        </p:txBody>
      </p:sp>
      <p:sp>
        <p:nvSpPr>
          <p:cNvPr id="6" name="Text Box 6"/>
          <p:cNvSpPr>
            <a:spLocks/>
          </p:cNvSpPr>
          <p:nvPr/>
        </p:nvSpPr>
        <p:spPr>
          <a:xfrm>
            <a:off x="23812" y="23812"/>
            <a:ext cx="9094787" cy="6808787"/>
          </a:xfrm>
          <a:prstGeom prst="rect">
            <a:avLst/>
          </a:prstGeom>
          <a:noFill/>
          <a:ln w="47625" cmpd="thickThin">
            <a:solidFill>
              <a:schemeClr val="tx1"/>
            </a:solidFill>
            <a:round/>
            <a:headEnd/>
            <a:tailEnd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lvl1pPr marL="0" indent="0" algn="ctr" defTabSz="914400" rtl="0" fontAlgn="base">
        <a:lnSpc>
          <a:spcPct val="100000"/>
        </a:lnSpc>
        <a:spcBef>
          <a:spcPct val="0"/>
        </a:spcBef>
        <a:spcAft>
          <a:spcPct val="0"/>
        </a:spcAft>
        <a:buNone/>
        <a:defRPr lang="en-US" sz="3200" b="1" i="0" u="none" baseline="0" dirty="0" smtClean="0">
          <a:solidFill>
            <a:schemeClr val="tx2"/>
          </a:solidFill>
          <a:latin typeface="Arial" pitchFamily="34" charset="0"/>
        </a:defRPr>
      </a:lvl1pPr>
    </p:titleStyle>
    <p:bodyStyle>
      <a:lvl1pPr marL="342900" indent="-342900" algn="l" defTabSz="914400" rtl="0" fontAlgn="base">
        <a:lnSpc>
          <a:spcPct val="100000"/>
        </a:lnSpc>
        <a:spcBef>
          <a:spcPct val="20000"/>
        </a:spcBef>
        <a:spcAft>
          <a:spcPct val="0"/>
        </a:spcAft>
        <a:buChar char="•"/>
        <a:defRPr lang="en-US" sz="2400" b="0" i="0" u="none" baseline="0" dirty="0" smtClean="0">
          <a:solidFill>
            <a:schemeClr val="tx1"/>
          </a:solidFill>
          <a:latin typeface="Arial" pitchFamily="34" charset="0"/>
        </a:defRPr>
      </a:lvl1pPr>
      <a:lvl2pPr marL="742950" indent="-285750">
        <a:lnSpc>
          <a:spcPct val="100000"/>
        </a:lnSpc>
        <a:spcBef>
          <a:spcPct val="20000"/>
        </a:spcBef>
        <a:spcAft>
          <a:spcPct val="0"/>
        </a:spcAft>
        <a:buChar char="–"/>
        <a:defRPr lang="en-US" sz="2400" b="0" i="0" u="none" dirty="0" smtClean="0">
          <a:solidFill>
            <a:schemeClr val="tx1"/>
          </a:solidFill>
          <a:latin typeface="Arial" pitchFamily="34" charset="0"/>
        </a:defRPr>
      </a:lvl2pPr>
      <a:lvl3pPr marL="1143000" indent="-228600">
        <a:lnSpc>
          <a:spcPct val="100000"/>
        </a:lnSpc>
        <a:spcBef>
          <a:spcPct val="20000"/>
        </a:spcBef>
        <a:spcAft>
          <a:spcPct val="0"/>
        </a:spcAft>
        <a:buChar char="•"/>
        <a:defRPr lang="en-US" sz="2000" b="0" i="0" u="none" dirty="0" smtClean="0">
          <a:solidFill>
            <a:schemeClr val="tx1"/>
          </a:solidFill>
          <a:latin typeface="Arial" pitchFamily="34" charset="0"/>
        </a:defRPr>
      </a:lvl3pPr>
      <a:lvl4pPr marL="1600200" indent="-228600">
        <a:lnSpc>
          <a:spcPct val="100000"/>
        </a:lnSpc>
        <a:spcBef>
          <a:spcPct val="20000"/>
        </a:spcBef>
        <a:spcAft>
          <a:spcPct val="0"/>
        </a:spcAft>
        <a:buChar char="–"/>
        <a:defRPr lang="en-US" sz="2000" b="0" i="0" u="none" dirty="0" smtClean="0">
          <a:solidFill>
            <a:schemeClr val="tx1"/>
          </a:solidFill>
          <a:latin typeface="Arial" pitchFamily="34" charset="0"/>
        </a:defRPr>
      </a:lvl4pPr>
      <a:lvl5pPr marL="2057400" indent="-228600">
        <a:lnSpc>
          <a:spcPct val="100000"/>
        </a:lnSpc>
        <a:spcBef>
          <a:spcPct val="20000"/>
        </a:spcBef>
        <a:spcAft>
          <a:spcPct val="0"/>
        </a:spcAft>
        <a:buChar char="•"/>
        <a:defRPr lang="en-US" sz="1800" b="0" i="0" u="none" dirty="0" smtClean="0">
          <a:solidFill>
            <a:schemeClr val="tx1"/>
          </a:solidFill>
          <a:latin typeface="Arial" pitchFamily="34" charset="0"/>
        </a:defRPr>
      </a:lvl5pPr>
    </p:bodyStyle>
    <p:otherStyle>
      <a:lvl1pPr marL="0" indent="0" algn="l" defTabSz="914400" rtl="0" fontAlgn="base">
        <a:lnSpc>
          <a:spcPct val="100000"/>
        </a:lnSpc>
        <a:spcBef>
          <a:spcPct val="0"/>
        </a:spcBef>
        <a:spcAft>
          <a:spcPct val="0"/>
        </a:spcAft>
        <a:buNone/>
        <a:defRPr lang="en-US" sz="2400" b="0" i="0" u="none" baseline="0" dirty="0" smtClean="0">
          <a:solidFill>
            <a:schemeClr val="tx1"/>
          </a:solidFill>
          <a:latin typeface="Arial" pitchFamily="34" charset="0"/>
        </a:defRPr>
      </a:lvl1pPr>
      <a:lvl2pPr marL="457200" indent="0">
        <a:lnSpc>
          <a:spcPct val="100000"/>
        </a:lnSpc>
        <a:spcBef>
          <a:spcPct val="0"/>
        </a:spcBef>
        <a:spcAft>
          <a:spcPct val="0"/>
        </a:spcAft>
        <a:buNone/>
        <a:defRPr lang="en-US" sz="2400" b="0" i="0" u="none" dirty="0" smtClean="0">
          <a:solidFill>
            <a:schemeClr val="tx1"/>
          </a:solidFill>
          <a:latin typeface="Arial" pitchFamily="34" charset="0"/>
        </a:defRPr>
      </a:lvl2pPr>
      <a:lvl3pPr marL="914400" indent="0">
        <a:lnSpc>
          <a:spcPct val="100000"/>
        </a:lnSpc>
        <a:spcBef>
          <a:spcPct val="0"/>
        </a:spcBef>
        <a:spcAft>
          <a:spcPct val="0"/>
        </a:spcAft>
        <a:buNone/>
        <a:defRPr lang="en-US" sz="2400" b="0" i="0" u="none" dirty="0" smtClean="0">
          <a:solidFill>
            <a:schemeClr val="tx1"/>
          </a:solidFill>
          <a:latin typeface="Arial" pitchFamily="34" charset="0"/>
        </a:defRPr>
      </a:lvl3pPr>
      <a:lvl4pPr marL="1371600" indent="0">
        <a:lnSpc>
          <a:spcPct val="100000"/>
        </a:lnSpc>
        <a:spcBef>
          <a:spcPct val="0"/>
        </a:spcBef>
        <a:spcAft>
          <a:spcPct val="0"/>
        </a:spcAft>
        <a:buNone/>
        <a:defRPr lang="en-US" sz="2400" b="0" i="0" u="none" dirty="0" smtClean="0">
          <a:solidFill>
            <a:schemeClr val="tx1"/>
          </a:solidFill>
          <a:latin typeface="Arial" pitchFamily="34" charset="0"/>
        </a:defRPr>
      </a:lvl4pPr>
      <a:lvl5pPr marL="1828800" indent="0">
        <a:lnSpc>
          <a:spcPct val="100000"/>
        </a:lnSpc>
        <a:spcBef>
          <a:spcPct val="0"/>
        </a:spcBef>
        <a:spcAft>
          <a:spcPct val="0"/>
        </a:spcAft>
        <a:buNone/>
        <a:defRPr lang="en-US" sz="2400" b="0" i="0" u="none" dirty="0" smtClean="0">
          <a:solidFill>
            <a:schemeClr val="tx1"/>
          </a:solidFill>
          <a:latin typeface="Arial" pitchFamily="34" charset="0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Text Box 2077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 numCol="1"/>
          <a:lstStyle>
            <a:lvl1pPr>
              <a:defRPr lang="en-US" dirty="0" smtClean="0"/>
            </a:lvl1pPr>
          </a:lstStyle>
          <a:p>
            <a:r>
              <a:t>Bubble Sort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13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Sorting</a:t>
            </a:r>
          </a:p>
        </p:txBody>
      </p:sp>
      <p:sp>
        <p:nvSpPr>
          <p:cNvPr id="14" name="Text Box 14"/>
          <p:cNvSpPr>
            <a:spLocks noGrp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sz="2800" b="1" dirty="0"/>
              <a:t>Sorting takes an unordered collection and makes it an ordered one.</a:t>
            </a:r>
          </a:p>
        </p:txBody>
      </p:sp>
      <p:sp>
        <p:nvSpPr>
          <p:cNvPr id="15" name="Text Box 15"/>
          <p:cNvSpPr>
            <a:spLocks/>
          </p:cNvSpPr>
          <p:nvPr/>
        </p:nvSpPr>
        <p:spPr>
          <a:xfrm>
            <a:off x="1211262" y="3203575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6" name="Text Box 16"/>
          <p:cNvSpPr>
            <a:spLocks/>
          </p:cNvSpPr>
          <p:nvPr/>
        </p:nvSpPr>
        <p:spPr>
          <a:xfrm>
            <a:off x="2220912" y="3198812"/>
            <a:ext cx="0" cy="712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7" name="Text Box 17"/>
          <p:cNvSpPr>
            <a:spLocks/>
          </p:cNvSpPr>
          <p:nvPr/>
        </p:nvSpPr>
        <p:spPr>
          <a:xfrm>
            <a:off x="3238500" y="3198812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8" name="Text Box 18"/>
          <p:cNvSpPr>
            <a:spLocks/>
          </p:cNvSpPr>
          <p:nvPr/>
        </p:nvSpPr>
        <p:spPr>
          <a:xfrm>
            <a:off x="4276725" y="3198812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9" name="Text Box 19"/>
          <p:cNvSpPr>
            <a:spLocks/>
          </p:cNvSpPr>
          <p:nvPr/>
        </p:nvSpPr>
        <p:spPr>
          <a:xfrm>
            <a:off x="5386387" y="3198812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20" name="Text Box 20"/>
          <p:cNvSpPr>
            <a:spLocks/>
          </p:cNvSpPr>
          <p:nvPr/>
        </p:nvSpPr>
        <p:spPr>
          <a:xfrm>
            <a:off x="6540500" y="3211512"/>
            <a:ext cx="0" cy="700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21" name="Text Box 21"/>
          <p:cNvSpPr>
            <a:spLocks/>
          </p:cNvSpPr>
          <p:nvPr/>
        </p:nvSpPr>
        <p:spPr>
          <a:xfrm>
            <a:off x="6958012" y="3378200"/>
            <a:ext cx="3540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5</a:t>
            </a:r>
          </a:p>
        </p:txBody>
      </p:sp>
      <p:sp>
        <p:nvSpPr>
          <p:cNvPr id="22" name="Text Box 22"/>
          <p:cNvSpPr>
            <a:spLocks/>
          </p:cNvSpPr>
          <p:nvPr/>
        </p:nvSpPr>
        <p:spPr>
          <a:xfrm>
            <a:off x="4516437" y="3365500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12</a:t>
            </a:r>
          </a:p>
        </p:txBody>
      </p:sp>
      <p:sp>
        <p:nvSpPr>
          <p:cNvPr id="23" name="Text Box 23"/>
          <p:cNvSpPr>
            <a:spLocks/>
          </p:cNvSpPr>
          <p:nvPr/>
        </p:nvSpPr>
        <p:spPr>
          <a:xfrm>
            <a:off x="3430587" y="3378200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35</a:t>
            </a:r>
          </a:p>
        </p:txBody>
      </p:sp>
      <p:sp>
        <p:nvSpPr>
          <p:cNvPr id="24" name="Text Box 24"/>
          <p:cNvSpPr>
            <a:spLocks/>
          </p:cNvSpPr>
          <p:nvPr/>
        </p:nvSpPr>
        <p:spPr>
          <a:xfrm>
            <a:off x="2344737" y="3378200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42</a:t>
            </a:r>
          </a:p>
        </p:txBody>
      </p:sp>
      <p:sp>
        <p:nvSpPr>
          <p:cNvPr id="25" name="Text Box 25"/>
          <p:cNvSpPr>
            <a:spLocks/>
          </p:cNvSpPr>
          <p:nvPr/>
        </p:nvSpPr>
        <p:spPr>
          <a:xfrm>
            <a:off x="1376362" y="3392487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77</a:t>
            </a:r>
          </a:p>
        </p:txBody>
      </p:sp>
      <p:sp>
        <p:nvSpPr>
          <p:cNvPr id="26" name="Text Box 26"/>
          <p:cNvSpPr>
            <a:spLocks/>
          </p:cNvSpPr>
          <p:nvPr/>
        </p:nvSpPr>
        <p:spPr>
          <a:xfrm>
            <a:off x="5559425" y="3363912"/>
            <a:ext cx="69373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101</a:t>
            </a:r>
          </a:p>
        </p:txBody>
      </p:sp>
      <p:grpSp>
        <p:nvGrpSpPr>
          <p:cNvPr id="28" name="Group 28"/>
          <p:cNvGrpSpPr>
            <a:grpSpLocks/>
          </p:cNvGrpSpPr>
          <p:nvPr/>
        </p:nvGrpSpPr>
        <p:grpSpPr>
          <a:xfrm>
            <a:off x="1143000" y="5224462"/>
            <a:ext cx="6518275" cy="723900"/>
            <a:chOff x="539" y="3921"/>
            <a:chExt cx="3074" cy="608"/>
          </a:xfrm>
        </p:grpSpPr>
        <p:sp>
          <p:nvSpPr>
            <p:cNvPr id="29" name="Text Box 29"/>
            <p:cNvSpPr>
              <a:spLocks/>
            </p:cNvSpPr>
            <p:nvPr/>
          </p:nvSpPr>
          <p:spPr>
            <a:xfrm>
              <a:off x="539" y="3925"/>
              <a:ext cx="3074" cy="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30" name="Text Box 30"/>
            <p:cNvSpPr>
              <a:spLocks/>
            </p:cNvSpPr>
            <p:nvPr/>
          </p:nvSpPr>
          <p:spPr>
            <a:xfrm>
              <a:off x="1015" y="3921"/>
              <a:ext cx="0" cy="5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31" name="Text Box 31"/>
            <p:cNvSpPr>
              <a:spLocks/>
            </p:cNvSpPr>
            <p:nvPr/>
          </p:nvSpPr>
          <p:spPr>
            <a:xfrm>
              <a:off x="1495" y="3921"/>
              <a:ext cx="0" cy="6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32" name="Text Box 32"/>
            <p:cNvSpPr>
              <a:spLocks/>
            </p:cNvSpPr>
            <p:nvPr/>
          </p:nvSpPr>
          <p:spPr>
            <a:xfrm>
              <a:off x="1985" y="3921"/>
              <a:ext cx="0" cy="6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33" name="Text Box 33"/>
            <p:cNvSpPr>
              <a:spLocks/>
            </p:cNvSpPr>
            <p:nvPr/>
          </p:nvSpPr>
          <p:spPr>
            <a:xfrm>
              <a:off x="2508" y="3921"/>
              <a:ext cx="0" cy="6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34" name="Text Box 34"/>
            <p:cNvSpPr>
              <a:spLocks/>
            </p:cNvSpPr>
            <p:nvPr/>
          </p:nvSpPr>
          <p:spPr>
            <a:xfrm>
              <a:off x="3052" y="3932"/>
              <a:ext cx="0" cy="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35" name="Text Box 35"/>
            <p:cNvSpPr>
              <a:spLocks/>
            </p:cNvSpPr>
            <p:nvPr/>
          </p:nvSpPr>
          <p:spPr>
            <a:xfrm>
              <a:off x="679" y="4061"/>
              <a:ext cx="167" cy="3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5</a:t>
              </a:r>
            </a:p>
          </p:txBody>
        </p:sp>
        <p:sp>
          <p:nvSpPr>
            <p:cNvPr id="36" name="Text Box 36"/>
            <p:cNvSpPr>
              <a:spLocks/>
            </p:cNvSpPr>
            <p:nvPr/>
          </p:nvSpPr>
          <p:spPr>
            <a:xfrm>
              <a:off x="1106" y="4050"/>
              <a:ext cx="247" cy="3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12</a:t>
              </a:r>
            </a:p>
          </p:txBody>
        </p:sp>
        <p:sp>
          <p:nvSpPr>
            <p:cNvPr id="37" name="Text Box 37"/>
            <p:cNvSpPr>
              <a:spLocks/>
            </p:cNvSpPr>
            <p:nvPr/>
          </p:nvSpPr>
          <p:spPr>
            <a:xfrm>
              <a:off x="1586" y="4040"/>
              <a:ext cx="247" cy="3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35</a:t>
              </a:r>
            </a:p>
          </p:txBody>
        </p:sp>
        <p:sp>
          <p:nvSpPr>
            <p:cNvPr id="38" name="Text Box 38"/>
            <p:cNvSpPr>
              <a:spLocks/>
            </p:cNvSpPr>
            <p:nvPr/>
          </p:nvSpPr>
          <p:spPr>
            <a:xfrm>
              <a:off x="2087" y="4061"/>
              <a:ext cx="247" cy="3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42</a:t>
              </a:r>
            </a:p>
          </p:txBody>
        </p:sp>
        <p:sp>
          <p:nvSpPr>
            <p:cNvPr id="39" name="Text Box 39"/>
            <p:cNvSpPr>
              <a:spLocks/>
            </p:cNvSpPr>
            <p:nvPr/>
          </p:nvSpPr>
          <p:spPr>
            <a:xfrm>
              <a:off x="2621" y="4050"/>
              <a:ext cx="247" cy="3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77</a:t>
              </a:r>
            </a:p>
          </p:txBody>
        </p:sp>
        <p:sp>
          <p:nvSpPr>
            <p:cNvPr id="40" name="Text Box 40"/>
            <p:cNvSpPr>
              <a:spLocks/>
            </p:cNvSpPr>
            <p:nvPr/>
          </p:nvSpPr>
          <p:spPr>
            <a:xfrm>
              <a:off x="3112" y="4050"/>
              <a:ext cx="327" cy="3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101</a:t>
              </a:r>
            </a:p>
          </p:txBody>
        </p:sp>
      </p:grpSp>
      <p:sp>
        <p:nvSpPr>
          <p:cNvPr id="41" name="Text Box 41"/>
          <p:cNvSpPr>
            <a:spLocks/>
          </p:cNvSpPr>
          <p:nvPr/>
        </p:nvSpPr>
        <p:spPr>
          <a:xfrm>
            <a:off x="0" y="2743200"/>
            <a:ext cx="9144000" cy="46230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                  0          1          2          3            4            5</a:t>
            </a:r>
          </a:p>
        </p:txBody>
      </p:sp>
      <p:sp>
        <p:nvSpPr>
          <p:cNvPr id="42" name="Text Box 42"/>
          <p:cNvSpPr>
            <a:spLocks/>
          </p:cNvSpPr>
          <p:nvPr/>
        </p:nvSpPr>
        <p:spPr>
          <a:xfrm>
            <a:off x="4276725" y="4094162"/>
            <a:ext cx="0" cy="900112"/>
          </a:xfrm>
          <a:prstGeom prst="line">
            <a:avLst/>
          </a:prstGeom>
          <a:noFill/>
          <a:ln w="76200">
            <a:solidFill>
              <a:srgbClr val="FF0033"/>
            </a:solidFill>
            <a:round/>
            <a:headEnd type="none" w="sm" len="sm"/>
            <a:tailEnd type="triangle" w="sm" len="sm"/>
          </a:ln>
          <a:effectLst/>
        </p:spPr>
      </p:sp>
      <p:sp>
        <p:nvSpPr>
          <p:cNvPr id="2" name="Text Box 41">
            <a:extLst>
              <a:ext uri="{FF2B5EF4-FFF2-40B4-BE49-F238E27FC236}">
                <a16:creationId xmlns:a16="http://schemas.microsoft.com/office/drawing/2014/main" id="{DE2CE2D8-33EA-F783-2817-612EC249FE5D}"/>
              </a:ext>
            </a:extLst>
          </p:cNvPr>
          <p:cNvSpPr>
            <a:spLocks/>
          </p:cNvSpPr>
          <p:nvPr/>
        </p:nvSpPr>
        <p:spPr>
          <a:xfrm>
            <a:off x="0" y="4795492"/>
            <a:ext cx="9144000" cy="46230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                  0          1          2          3            4            5</a:t>
            </a:r>
          </a:p>
        </p:txBody>
      </p:sp>
    </p:spTree>
  </p:cSld>
  <p:clrMapOvr>
    <a:masterClrMapping/>
  </p:clrMapOvr>
  <p:transition>
    <p:cut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Box 43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"Bubbling Up" the Largest Element</a:t>
            </a:r>
          </a:p>
        </p:txBody>
      </p:sp>
      <p:sp>
        <p:nvSpPr>
          <p:cNvPr id="44" name="Text Box 44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b="1" dirty="0"/>
              <a:t>Traverse a collection of elements</a:t>
            </a:r>
          </a:p>
          <a:p>
            <a:pPr marL="742950" lvl="1" indent="-285750"/>
            <a:r>
              <a:rPr lang="en-US" b="1" dirty="0"/>
              <a:t>Move from the front to the end</a:t>
            </a:r>
          </a:p>
          <a:p>
            <a:pPr marL="742950" lvl="1" indent="-285750"/>
            <a:r>
              <a:rPr lang="en-US" b="1" dirty="0"/>
              <a:t>“Bubble” the </a:t>
            </a:r>
            <a:r>
              <a:rPr lang="en-US" b="1" dirty="0">
                <a:solidFill>
                  <a:srgbClr val="3333FF"/>
                </a:solidFill>
              </a:rPr>
              <a:t>largest value</a:t>
            </a:r>
            <a:r>
              <a:rPr lang="en-US" b="1" dirty="0"/>
              <a:t> to the end using </a:t>
            </a:r>
            <a:r>
              <a:rPr lang="en-US" b="1" dirty="0">
                <a:solidFill>
                  <a:srgbClr val="3333FF"/>
                </a:solidFill>
              </a:rPr>
              <a:t>pair-wise comparisons and swapping</a:t>
            </a:r>
          </a:p>
        </p:txBody>
      </p:sp>
      <p:sp>
        <p:nvSpPr>
          <p:cNvPr id="45" name="Text Box 45"/>
          <p:cNvSpPr>
            <a:spLocks/>
          </p:cNvSpPr>
          <p:nvPr/>
        </p:nvSpPr>
        <p:spPr>
          <a:xfrm>
            <a:off x="1211262" y="4592637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46" name="Text Box 46"/>
          <p:cNvSpPr>
            <a:spLocks/>
          </p:cNvSpPr>
          <p:nvPr/>
        </p:nvSpPr>
        <p:spPr>
          <a:xfrm>
            <a:off x="2220912" y="4587875"/>
            <a:ext cx="0" cy="712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47" name="Text Box 47"/>
          <p:cNvSpPr>
            <a:spLocks/>
          </p:cNvSpPr>
          <p:nvPr/>
        </p:nvSpPr>
        <p:spPr>
          <a:xfrm>
            <a:off x="3238500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48" name="Text Box 48"/>
          <p:cNvSpPr>
            <a:spLocks/>
          </p:cNvSpPr>
          <p:nvPr/>
        </p:nvSpPr>
        <p:spPr>
          <a:xfrm>
            <a:off x="4276725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49" name="Text Box 49"/>
          <p:cNvSpPr>
            <a:spLocks/>
          </p:cNvSpPr>
          <p:nvPr/>
        </p:nvSpPr>
        <p:spPr>
          <a:xfrm>
            <a:off x="5386387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50" name="Text Box 50"/>
          <p:cNvSpPr>
            <a:spLocks/>
          </p:cNvSpPr>
          <p:nvPr/>
        </p:nvSpPr>
        <p:spPr>
          <a:xfrm>
            <a:off x="6540500" y="4600575"/>
            <a:ext cx="0" cy="700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51" name="Text Box 51"/>
          <p:cNvSpPr>
            <a:spLocks/>
          </p:cNvSpPr>
          <p:nvPr/>
        </p:nvSpPr>
        <p:spPr>
          <a:xfrm>
            <a:off x="6958012" y="4767262"/>
            <a:ext cx="3540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5</a:t>
            </a:r>
          </a:p>
        </p:txBody>
      </p:sp>
      <p:sp>
        <p:nvSpPr>
          <p:cNvPr id="52" name="Text Box 52"/>
          <p:cNvSpPr>
            <a:spLocks/>
          </p:cNvSpPr>
          <p:nvPr/>
        </p:nvSpPr>
        <p:spPr>
          <a:xfrm>
            <a:off x="4516437" y="47545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12</a:t>
            </a:r>
          </a:p>
        </p:txBody>
      </p:sp>
      <p:sp>
        <p:nvSpPr>
          <p:cNvPr id="53" name="Text Box 53"/>
          <p:cNvSpPr>
            <a:spLocks/>
          </p:cNvSpPr>
          <p:nvPr/>
        </p:nvSpPr>
        <p:spPr>
          <a:xfrm>
            <a:off x="343058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35</a:t>
            </a:r>
          </a:p>
        </p:txBody>
      </p:sp>
      <p:sp>
        <p:nvSpPr>
          <p:cNvPr id="54" name="Text Box 54"/>
          <p:cNvSpPr>
            <a:spLocks/>
          </p:cNvSpPr>
          <p:nvPr/>
        </p:nvSpPr>
        <p:spPr>
          <a:xfrm>
            <a:off x="234473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42</a:t>
            </a:r>
          </a:p>
        </p:txBody>
      </p:sp>
      <p:sp>
        <p:nvSpPr>
          <p:cNvPr id="55" name="Text Box 55"/>
          <p:cNvSpPr>
            <a:spLocks/>
          </p:cNvSpPr>
          <p:nvPr/>
        </p:nvSpPr>
        <p:spPr>
          <a:xfrm>
            <a:off x="1376362" y="4781550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77</a:t>
            </a:r>
          </a:p>
        </p:txBody>
      </p:sp>
      <p:sp>
        <p:nvSpPr>
          <p:cNvPr id="56" name="Text Box 56"/>
          <p:cNvSpPr>
            <a:spLocks/>
          </p:cNvSpPr>
          <p:nvPr/>
        </p:nvSpPr>
        <p:spPr>
          <a:xfrm>
            <a:off x="5559425" y="4752975"/>
            <a:ext cx="69373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101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84EFAD-5FBF-EE01-8890-987626E86225}"/>
              </a:ext>
            </a:extLst>
          </p:cNvPr>
          <p:cNvSpPr txBox="1"/>
          <p:nvPr/>
        </p:nvSpPr>
        <p:spPr>
          <a:xfrm>
            <a:off x="1498060" y="4133204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</a:rPr>
              <a:t>0          1          2          3            4            5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Box 58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"Bubbling Up" the Largest Element</a:t>
            </a:r>
          </a:p>
        </p:txBody>
      </p:sp>
      <p:sp>
        <p:nvSpPr>
          <p:cNvPr id="59" name="Text Box 59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b="1" dirty="0"/>
              <a:t>Traverse a collection of elements</a:t>
            </a:r>
          </a:p>
          <a:p>
            <a:pPr marL="742950" lvl="1" indent="-285750"/>
            <a:r>
              <a:rPr lang="en-US" b="1" dirty="0"/>
              <a:t>Move from the front to the end</a:t>
            </a:r>
          </a:p>
          <a:p>
            <a:pPr marL="742950" lvl="1" indent="-285750"/>
            <a:r>
              <a:rPr lang="en-US" b="1" dirty="0"/>
              <a:t>“Bubble” the largest value to the end using pair-wise comparisons and swapping</a:t>
            </a:r>
          </a:p>
        </p:txBody>
      </p:sp>
      <p:sp>
        <p:nvSpPr>
          <p:cNvPr id="60" name="Text Box 60"/>
          <p:cNvSpPr>
            <a:spLocks/>
          </p:cNvSpPr>
          <p:nvPr/>
        </p:nvSpPr>
        <p:spPr>
          <a:xfrm>
            <a:off x="1211262" y="4592637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61" name="Text Box 61"/>
          <p:cNvSpPr>
            <a:spLocks/>
          </p:cNvSpPr>
          <p:nvPr/>
        </p:nvSpPr>
        <p:spPr>
          <a:xfrm>
            <a:off x="2220912" y="4587875"/>
            <a:ext cx="0" cy="712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62" name="Text Box 62"/>
          <p:cNvSpPr>
            <a:spLocks/>
          </p:cNvSpPr>
          <p:nvPr/>
        </p:nvSpPr>
        <p:spPr>
          <a:xfrm>
            <a:off x="3238500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63" name="Text Box 63"/>
          <p:cNvSpPr>
            <a:spLocks/>
          </p:cNvSpPr>
          <p:nvPr/>
        </p:nvSpPr>
        <p:spPr>
          <a:xfrm>
            <a:off x="4276725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64" name="Text Box 64"/>
          <p:cNvSpPr>
            <a:spLocks/>
          </p:cNvSpPr>
          <p:nvPr/>
        </p:nvSpPr>
        <p:spPr>
          <a:xfrm>
            <a:off x="5386387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65" name="Text Box 65"/>
          <p:cNvSpPr>
            <a:spLocks/>
          </p:cNvSpPr>
          <p:nvPr/>
        </p:nvSpPr>
        <p:spPr>
          <a:xfrm>
            <a:off x="6540500" y="4600575"/>
            <a:ext cx="0" cy="700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66" name="Text Box 66"/>
          <p:cNvSpPr>
            <a:spLocks/>
          </p:cNvSpPr>
          <p:nvPr/>
        </p:nvSpPr>
        <p:spPr>
          <a:xfrm>
            <a:off x="6958012" y="4767262"/>
            <a:ext cx="3540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5</a:t>
            </a:r>
          </a:p>
        </p:txBody>
      </p:sp>
      <p:sp>
        <p:nvSpPr>
          <p:cNvPr id="67" name="Text Box 67"/>
          <p:cNvSpPr>
            <a:spLocks/>
          </p:cNvSpPr>
          <p:nvPr/>
        </p:nvSpPr>
        <p:spPr>
          <a:xfrm>
            <a:off x="4516437" y="47545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12</a:t>
            </a:r>
          </a:p>
        </p:txBody>
      </p:sp>
      <p:sp>
        <p:nvSpPr>
          <p:cNvPr id="68" name="Text Box 68"/>
          <p:cNvSpPr>
            <a:spLocks/>
          </p:cNvSpPr>
          <p:nvPr/>
        </p:nvSpPr>
        <p:spPr>
          <a:xfrm>
            <a:off x="343058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35</a:t>
            </a:r>
          </a:p>
        </p:txBody>
      </p:sp>
      <p:sp>
        <p:nvSpPr>
          <p:cNvPr id="69" name="Text Box 69"/>
          <p:cNvSpPr>
            <a:spLocks/>
          </p:cNvSpPr>
          <p:nvPr/>
        </p:nvSpPr>
        <p:spPr>
          <a:xfrm>
            <a:off x="234473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42</a:t>
            </a:r>
          </a:p>
        </p:txBody>
      </p:sp>
      <p:sp>
        <p:nvSpPr>
          <p:cNvPr id="70" name="Text Box 70"/>
          <p:cNvSpPr>
            <a:spLocks/>
          </p:cNvSpPr>
          <p:nvPr/>
        </p:nvSpPr>
        <p:spPr>
          <a:xfrm>
            <a:off x="1376362" y="4781550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77</a:t>
            </a:r>
          </a:p>
        </p:txBody>
      </p:sp>
      <p:sp>
        <p:nvSpPr>
          <p:cNvPr id="71" name="Text Box 71"/>
          <p:cNvSpPr>
            <a:spLocks/>
          </p:cNvSpPr>
          <p:nvPr/>
        </p:nvSpPr>
        <p:spPr>
          <a:xfrm>
            <a:off x="5559425" y="4752975"/>
            <a:ext cx="69373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101</a:t>
            </a:r>
          </a:p>
        </p:txBody>
      </p:sp>
      <p:sp>
        <p:nvSpPr>
          <p:cNvPr id="72" name="Text Box 72"/>
          <p:cNvSpPr>
            <a:spLocks/>
          </p:cNvSpPr>
          <p:nvPr/>
        </p:nvSpPr>
        <p:spPr>
          <a:xfrm>
            <a:off x="1524000" y="4132262"/>
            <a:ext cx="5974392" cy="46230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0          1          2          3            4            5</a:t>
            </a:r>
          </a:p>
        </p:txBody>
      </p:sp>
      <p:sp>
        <p:nvSpPr>
          <p:cNvPr id="73" name="Text Box 73"/>
          <p:cNvSpPr>
            <a:spLocks/>
          </p:cNvSpPr>
          <p:nvPr/>
        </p:nvSpPr>
        <p:spPr>
          <a:xfrm>
            <a:off x="1211262" y="46005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round/>
            <a:headEnd/>
            <a:tailEnd/>
          </a:ln>
          <a:effectLst/>
        </p:spPr>
      </p:sp>
      <p:sp>
        <p:nvSpPr>
          <p:cNvPr id="74" name="Text Box 74"/>
          <p:cNvSpPr>
            <a:spLocks/>
          </p:cNvSpPr>
          <p:nvPr/>
        </p:nvSpPr>
        <p:spPr>
          <a:xfrm>
            <a:off x="2220912" y="46005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round/>
            <a:headEnd/>
            <a:tailEnd/>
          </a:ln>
          <a:effectLst/>
        </p:spPr>
      </p:sp>
      <p:sp>
        <p:nvSpPr>
          <p:cNvPr id="75" name="Text Box 75"/>
          <p:cNvSpPr>
            <a:spLocks/>
          </p:cNvSpPr>
          <p:nvPr/>
        </p:nvSpPr>
        <p:spPr>
          <a:xfrm>
            <a:off x="1011237" y="4132262"/>
            <a:ext cx="241935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ctr"/>
          <a:lstStyle/>
          <a:p>
            <a:pPr marL="0" indent="0" algn="ctr"/>
            <a:r>
              <a:rPr lang="en-US" b="1" dirty="0"/>
              <a:t>Swap</a:t>
            </a:r>
          </a:p>
        </p:txBody>
      </p:sp>
      <p:grpSp>
        <p:nvGrpSpPr>
          <p:cNvPr id="77" name="Group 77"/>
          <p:cNvGrpSpPr>
            <a:grpSpLocks/>
          </p:cNvGrpSpPr>
          <p:nvPr/>
        </p:nvGrpSpPr>
        <p:grpSpPr>
          <a:xfrm>
            <a:off x="1206500" y="4595812"/>
            <a:ext cx="2019300" cy="708025"/>
            <a:chOff x="760" y="2895"/>
            <a:chExt cx="1272" cy="446"/>
          </a:xfrm>
        </p:grpSpPr>
        <p:sp>
          <p:nvSpPr>
            <p:cNvPr id="78" name="Text Box 78"/>
            <p:cNvSpPr>
              <a:spLocks/>
            </p:cNvSpPr>
            <p:nvPr/>
          </p:nvSpPr>
          <p:spPr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round/>
              <a:headEnd/>
              <a:tailEnd/>
            </a:ln>
            <a:effectLst/>
          </p:spPr>
          <p:txBody>
            <a:bodyPr wrap="none" numCol="1" anchor="ctr"/>
            <a:lstStyle/>
            <a:p>
              <a:pPr marL="0" indent="0" algn="ctr"/>
              <a:r>
                <a:rPr lang="en-US" b="1" dirty="0"/>
                <a:t>42</a:t>
              </a:r>
            </a:p>
          </p:txBody>
        </p:sp>
        <p:sp>
          <p:nvSpPr>
            <p:cNvPr id="79" name="Text Box 79"/>
            <p:cNvSpPr>
              <a:spLocks/>
            </p:cNvSpPr>
            <p:nvPr/>
          </p:nvSpPr>
          <p:spPr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round/>
              <a:headEnd/>
              <a:tailEnd/>
            </a:ln>
            <a:effectLst/>
          </p:spPr>
          <p:txBody>
            <a:bodyPr wrap="none" numCol="1" anchor="ctr"/>
            <a:lstStyle/>
            <a:p>
              <a:pPr marL="0" indent="0" algn="ctr"/>
              <a:r>
                <a:rPr lang="en-US" b="1" dirty="0"/>
                <a:t>77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Box 80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"Bubbling Up" the Largest Element</a:t>
            </a:r>
          </a:p>
        </p:txBody>
      </p:sp>
      <p:sp>
        <p:nvSpPr>
          <p:cNvPr id="81" name="Text Box 81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b="1" dirty="0"/>
              <a:t>Traverse a collection of elements</a:t>
            </a:r>
          </a:p>
          <a:p>
            <a:pPr marL="742950" lvl="1" indent="-285750"/>
            <a:r>
              <a:rPr lang="en-US" b="1" dirty="0"/>
              <a:t>Move from the front to the end</a:t>
            </a:r>
          </a:p>
          <a:p>
            <a:pPr marL="742950" lvl="1" indent="-285750"/>
            <a:r>
              <a:rPr lang="en-US" b="1" dirty="0"/>
              <a:t>“Bubble” the largest value to the end using pair-wise comparisons and swapping</a:t>
            </a:r>
          </a:p>
        </p:txBody>
      </p:sp>
      <p:sp>
        <p:nvSpPr>
          <p:cNvPr id="82" name="Text Box 82"/>
          <p:cNvSpPr>
            <a:spLocks/>
          </p:cNvSpPr>
          <p:nvPr/>
        </p:nvSpPr>
        <p:spPr>
          <a:xfrm>
            <a:off x="1211262" y="4592637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83" name="Text Box 83"/>
          <p:cNvSpPr>
            <a:spLocks/>
          </p:cNvSpPr>
          <p:nvPr/>
        </p:nvSpPr>
        <p:spPr>
          <a:xfrm>
            <a:off x="2220912" y="4587875"/>
            <a:ext cx="0" cy="712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84" name="Text Box 84"/>
          <p:cNvSpPr>
            <a:spLocks/>
          </p:cNvSpPr>
          <p:nvPr/>
        </p:nvSpPr>
        <p:spPr>
          <a:xfrm>
            <a:off x="3238500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85" name="Text Box 85"/>
          <p:cNvSpPr>
            <a:spLocks/>
          </p:cNvSpPr>
          <p:nvPr/>
        </p:nvSpPr>
        <p:spPr>
          <a:xfrm>
            <a:off x="4276725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86" name="Text Box 86"/>
          <p:cNvSpPr>
            <a:spLocks/>
          </p:cNvSpPr>
          <p:nvPr/>
        </p:nvSpPr>
        <p:spPr>
          <a:xfrm>
            <a:off x="5386387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87" name="Text Box 87"/>
          <p:cNvSpPr>
            <a:spLocks/>
          </p:cNvSpPr>
          <p:nvPr/>
        </p:nvSpPr>
        <p:spPr>
          <a:xfrm>
            <a:off x="6540500" y="4600575"/>
            <a:ext cx="0" cy="700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88" name="Text Box 88"/>
          <p:cNvSpPr>
            <a:spLocks/>
          </p:cNvSpPr>
          <p:nvPr/>
        </p:nvSpPr>
        <p:spPr>
          <a:xfrm>
            <a:off x="6958012" y="4767262"/>
            <a:ext cx="3540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5</a:t>
            </a:r>
          </a:p>
        </p:txBody>
      </p:sp>
      <p:sp>
        <p:nvSpPr>
          <p:cNvPr id="89" name="Text Box 89"/>
          <p:cNvSpPr>
            <a:spLocks/>
          </p:cNvSpPr>
          <p:nvPr/>
        </p:nvSpPr>
        <p:spPr>
          <a:xfrm>
            <a:off x="4516437" y="47545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12</a:t>
            </a:r>
          </a:p>
        </p:txBody>
      </p:sp>
      <p:sp>
        <p:nvSpPr>
          <p:cNvPr id="90" name="Text Box 90"/>
          <p:cNvSpPr>
            <a:spLocks/>
          </p:cNvSpPr>
          <p:nvPr/>
        </p:nvSpPr>
        <p:spPr>
          <a:xfrm>
            <a:off x="343058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35</a:t>
            </a:r>
          </a:p>
        </p:txBody>
      </p:sp>
      <p:sp>
        <p:nvSpPr>
          <p:cNvPr id="91" name="Text Box 91"/>
          <p:cNvSpPr>
            <a:spLocks/>
          </p:cNvSpPr>
          <p:nvPr/>
        </p:nvSpPr>
        <p:spPr>
          <a:xfrm>
            <a:off x="234473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77</a:t>
            </a:r>
          </a:p>
        </p:txBody>
      </p:sp>
      <p:sp>
        <p:nvSpPr>
          <p:cNvPr id="92" name="Text Box 92"/>
          <p:cNvSpPr>
            <a:spLocks/>
          </p:cNvSpPr>
          <p:nvPr/>
        </p:nvSpPr>
        <p:spPr>
          <a:xfrm>
            <a:off x="1376362" y="4781550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42</a:t>
            </a:r>
          </a:p>
        </p:txBody>
      </p:sp>
      <p:sp>
        <p:nvSpPr>
          <p:cNvPr id="93" name="Text Box 93"/>
          <p:cNvSpPr>
            <a:spLocks/>
          </p:cNvSpPr>
          <p:nvPr/>
        </p:nvSpPr>
        <p:spPr>
          <a:xfrm>
            <a:off x="5559425" y="4752975"/>
            <a:ext cx="69373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101</a:t>
            </a:r>
          </a:p>
        </p:txBody>
      </p:sp>
      <p:sp>
        <p:nvSpPr>
          <p:cNvPr id="94" name="Text Box 94"/>
          <p:cNvSpPr>
            <a:spLocks/>
          </p:cNvSpPr>
          <p:nvPr/>
        </p:nvSpPr>
        <p:spPr>
          <a:xfrm>
            <a:off x="1524000" y="4132262"/>
            <a:ext cx="5974392" cy="46230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0          1          2          3            4            5</a:t>
            </a:r>
          </a:p>
        </p:txBody>
      </p:sp>
      <p:sp>
        <p:nvSpPr>
          <p:cNvPr id="95" name="Text Box 95"/>
          <p:cNvSpPr>
            <a:spLocks/>
          </p:cNvSpPr>
          <p:nvPr/>
        </p:nvSpPr>
        <p:spPr>
          <a:xfrm>
            <a:off x="2220912" y="45878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round/>
            <a:headEnd/>
            <a:tailEnd/>
          </a:ln>
          <a:effectLst/>
        </p:spPr>
      </p:sp>
      <p:sp>
        <p:nvSpPr>
          <p:cNvPr id="96" name="Text Box 96"/>
          <p:cNvSpPr>
            <a:spLocks/>
          </p:cNvSpPr>
          <p:nvPr/>
        </p:nvSpPr>
        <p:spPr>
          <a:xfrm>
            <a:off x="3259137" y="45878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round/>
            <a:headEnd/>
            <a:tailEnd/>
          </a:ln>
          <a:effectLst/>
        </p:spPr>
      </p:sp>
      <p:sp>
        <p:nvSpPr>
          <p:cNvPr id="97" name="Text Box 97"/>
          <p:cNvSpPr>
            <a:spLocks/>
          </p:cNvSpPr>
          <p:nvPr/>
        </p:nvSpPr>
        <p:spPr>
          <a:xfrm>
            <a:off x="2062162" y="4141787"/>
            <a:ext cx="241935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ctr"/>
          <a:lstStyle/>
          <a:p>
            <a:pPr marL="0" indent="0" algn="ctr"/>
            <a:r>
              <a:rPr lang="en-US" b="1" dirty="0"/>
              <a:t>Swap</a:t>
            </a:r>
          </a:p>
        </p:txBody>
      </p:sp>
      <p:grpSp>
        <p:nvGrpSpPr>
          <p:cNvPr id="99" name="Group 99"/>
          <p:cNvGrpSpPr>
            <a:grpSpLocks/>
          </p:cNvGrpSpPr>
          <p:nvPr/>
        </p:nvGrpSpPr>
        <p:grpSpPr>
          <a:xfrm>
            <a:off x="2257425" y="4605337"/>
            <a:ext cx="2019300" cy="708025"/>
            <a:chOff x="760" y="2895"/>
            <a:chExt cx="1272" cy="446"/>
          </a:xfrm>
        </p:grpSpPr>
        <p:sp>
          <p:nvSpPr>
            <p:cNvPr id="100" name="Text Box 100"/>
            <p:cNvSpPr>
              <a:spLocks/>
            </p:cNvSpPr>
            <p:nvPr/>
          </p:nvSpPr>
          <p:spPr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round/>
              <a:headEnd/>
              <a:tailEnd/>
            </a:ln>
            <a:effectLst/>
          </p:spPr>
          <p:txBody>
            <a:bodyPr wrap="none" numCol="1" anchor="ctr"/>
            <a:lstStyle/>
            <a:p>
              <a:pPr marL="0" indent="0" algn="ctr"/>
              <a:r>
                <a:rPr lang="en-US" b="1" dirty="0"/>
                <a:t>35</a:t>
              </a:r>
            </a:p>
          </p:txBody>
        </p:sp>
        <p:sp>
          <p:nvSpPr>
            <p:cNvPr id="101" name="Text Box 101"/>
            <p:cNvSpPr>
              <a:spLocks/>
            </p:cNvSpPr>
            <p:nvPr/>
          </p:nvSpPr>
          <p:spPr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round/>
              <a:headEnd/>
              <a:tailEnd/>
            </a:ln>
            <a:effectLst/>
          </p:spPr>
          <p:txBody>
            <a:bodyPr wrap="none" numCol="1" anchor="ctr"/>
            <a:lstStyle/>
            <a:p>
              <a:pPr marL="0" indent="0" algn="ctr"/>
              <a:r>
                <a:rPr lang="en-US" b="1" dirty="0"/>
                <a:t>77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Box 10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"Bubbling Up" the Largest Element</a:t>
            </a:r>
          </a:p>
        </p:txBody>
      </p:sp>
      <p:sp>
        <p:nvSpPr>
          <p:cNvPr id="103" name="Text Box 10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b="1" dirty="0"/>
              <a:t>Traverse a collection of elements</a:t>
            </a:r>
          </a:p>
          <a:p>
            <a:pPr marL="742950" lvl="1" indent="-285750"/>
            <a:r>
              <a:rPr lang="en-US" b="1" dirty="0"/>
              <a:t>Move from the front to the end</a:t>
            </a:r>
          </a:p>
          <a:p>
            <a:pPr marL="742950" lvl="1" indent="-285750"/>
            <a:r>
              <a:rPr lang="en-US" b="1" dirty="0"/>
              <a:t>“Bubble” the largest value to the end using pair-wise comparisons and swapping</a:t>
            </a:r>
          </a:p>
        </p:txBody>
      </p:sp>
      <p:sp>
        <p:nvSpPr>
          <p:cNvPr id="104" name="Text Box 104"/>
          <p:cNvSpPr>
            <a:spLocks/>
          </p:cNvSpPr>
          <p:nvPr/>
        </p:nvSpPr>
        <p:spPr>
          <a:xfrm>
            <a:off x="1211262" y="4592637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05" name="Text Box 105"/>
          <p:cNvSpPr>
            <a:spLocks/>
          </p:cNvSpPr>
          <p:nvPr/>
        </p:nvSpPr>
        <p:spPr>
          <a:xfrm>
            <a:off x="2220912" y="4587875"/>
            <a:ext cx="0" cy="712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06" name="Text Box 106"/>
          <p:cNvSpPr>
            <a:spLocks/>
          </p:cNvSpPr>
          <p:nvPr/>
        </p:nvSpPr>
        <p:spPr>
          <a:xfrm>
            <a:off x="3238500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07" name="Text Box 107"/>
          <p:cNvSpPr>
            <a:spLocks/>
          </p:cNvSpPr>
          <p:nvPr/>
        </p:nvSpPr>
        <p:spPr>
          <a:xfrm>
            <a:off x="4276725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08" name="Text Box 108"/>
          <p:cNvSpPr>
            <a:spLocks/>
          </p:cNvSpPr>
          <p:nvPr/>
        </p:nvSpPr>
        <p:spPr>
          <a:xfrm>
            <a:off x="5386387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09" name="Text Box 109"/>
          <p:cNvSpPr>
            <a:spLocks/>
          </p:cNvSpPr>
          <p:nvPr/>
        </p:nvSpPr>
        <p:spPr>
          <a:xfrm>
            <a:off x="6540500" y="4600575"/>
            <a:ext cx="0" cy="700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10" name="Text Box 110"/>
          <p:cNvSpPr>
            <a:spLocks/>
          </p:cNvSpPr>
          <p:nvPr/>
        </p:nvSpPr>
        <p:spPr>
          <a:xfrm>
            <a:off x="6958012" y="4767262"/>
            <a:ext cx="3540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5</a:t>
            </a:r>
          </a:p>
        </p:txBody>
      </p:sp>
      <p:sp>
        <p:nvSpPr>
          <p:cNvPr id="111" name="Text Box 111"/>
          <p:cNvSpPr>
            <a:spLocks/>
          </p:cNvSpPr>
          <p:nvPr/>
        </p:nvSpPr>
        <p:spPr>
          <a:xfrm>
            <a:off x="4516437" y="47545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12</a:t>
            </a:r>
          </a:p>
        </p:txBody>
      </p:sp>
      <p:sp>
        <p:nvSpPr>
          <p:cNvPr id="112" name="Text Box 112"/>
          <p:cNvSpPr>
            <a:spLocks/>
          </p:cNvSpPr>
          <p:nvPr/>
        </p:nvSpPr>
        <p:spPr>
          <a:xfrm>
            <a:off x="343058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77</a:t>
            </a:r>
          </a:p>
        </p:txBody>
      </p:sp>
      <p:sp>
        <p:nvSpPr>
          <p:cNvPr id="113" name="Text Box 113"/>
          <p:cNvSpPr>
            <a:spLocks/>
          </p:cNvSpPr>
          <p:nvPr/>
        </p:nvSpPr>
        <p:spPr>
          <a:xfrm>
            <a:off x="234473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35</a:t>
            </a:r>
          </a:p>
        </p:txBody>
      </p:sp>
      <p:sp>
        <p:nvSpPr>
          <p:cNvPr id="114" name="Text Box 114"/>
          <p:cNvSpPr>
            <a:spLocks/>
          </p:cNvSpPr>
          <p:nvPr/>
        </p:nvSpPr>
        <p:spPr>
          <a:xfrm>
            <a:off x="1376362" y="4781550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42</a:t>
            </a:r>
          </a:p>
        </p:txBody>
      </p:sp>
      <p:sp>
        <p:nvSpPr>
          <p:cNvPr id="115" name="Text Box 115"/>
          <p:cNvSpPr>
            <a:spLocks/>
          </p:cNvSpPr>
          <p:nvPr/>
        </p:nvSpPr>
        <p:spPr>
          <a:xfrm>
            <a:off x="5559425" y="4752975"/>
            <a:ext cx="69373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101</a:t>
            </a:r>
          </a:p>
        </p:txBody>
      </p:sp>
      <p:sp>
        <p:nvSpPr>
          <p:cNvPr id="116" name="Text Box 116"/>
          <p:cNvSpPr>
            <a:spLocks/>
          </p:cNvSpPr>
          <p:nvPr/>
        </p:nvSpPr>
        <p:spPr>
          <a:xfrm>
            <a:off x="1524000" y="4132262"/>
            <a:ext cx="5974392" cy="46230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0          1          2          3            4            5</a:t>
            </a:r>
          </a:p>
        </p:txBody>
      </p:sp>
      <p:sp>
        <p:nvSpPr>
          <p:cNvPr id="117" name="Text Box 117"/>
          <p:cNvSpPr>
            <a:spLocks/>
          </p:cNvSpPr>
          <p:nvPr/>
        </p:nvSpPr>
        <p:spPr>
          <a:xfrm>
            <a:off x="3267075" y="46005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round/>
            <a:headEnd/>
            <a:tailEnd/>
          </a:ln>
          <a:effectLst/>
        </p:spPr>
      </p:sp>
      <p:sp>
        <p:nvSpPr>
          <p:cNvPr id="118" name="Text Box 118"/>
          <p:cNvSpPr>
            <a:spLocks/>
          </p:cNvSpPr>
          <p:nvPr/>
        </p:nvSpPr>
        <p:spPr>
          <a:xfrm>
            <a:off x="4276725" y="4600575"/>
            <a:ext cx="1095375" cy="708025"/>
          </a:xfrm>
          <a:prstGeom prst="rect">
            <a:avLst/>
          </a:prstGeom>
          <a:noFill/>
          <a:ln w="76200">
            <a:solidFill>
              <a:srgbClr val="FF0033"/>
            </a:solidFill>
            <a:round/>
            <a:headEnd/>
            <a:tailEnd/>
          </a:ln>
          <a:effectLst/>
        </p:spPr>
      </p:sp>
      <p:sp>
        <p:nvSpPr>
          <p:cNvPr id="119" name="Text Box 119"/>
          <p:cNvSpPr>
            <a:spLocks/>
          </p:cNvSpPr>
          <p:nvPr/>
        </p:nvSpPr>
        <p:spPr>
          <a:xfrm>
            <a:off x="3057525" y="4132262"/>
            <a:ext cx="250190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ctr"/>
          <a:lstStyle/>
          <a:p>
            <a:pPr marL="0" indent="0" algn="ctr"/>
            <a:r>
              <a:rPr lang="en-US" b="1" dirty="0"/>
              <a:t>Swap</a:t>
            </a:r>
          </a:p>
        </p:txBody>
      </p:sp>
      <p:grpSp>
        <p:nvGrpSpPr>
          <p:cNvPr id="121" name="Group 121"/>
          <p:cNvGrpSpPr>
            <a:grpSpLocks/>
          </p:cNvGrpSpPr>
          <p:nvPr/>
        </p:nvGrpSpPr>
        <p:grpSpPr>
          <a:xfrm>
            <a:off x="3267075" y="4595812"/>
            <a:ext cx="2087562" cy="708025"/>
            <a:chOff x="760" y="2895"/>
            <a:chExt cx="1272" cy="446"/>
          </a:xfrm>
        </p:grpSpPr>
        <p:sp>
          <p:nvSpPr>
            <p:cNvPr id="122" name="Text Box 122"/>
            <p:cNvSpPr>
              <a:spLocks/>
            </p:cNvSpPr>
            <p:nvPr/>
          </p:nvSpPr>
          <p:spPr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round/>
              <a:headEnd/>
              <a:tailEnd/>
            </a:ln>
            <a:effectLst/>
          </p:spPr>
          <p:txBody>
            <a:bodyPr wrap="none" numCol="1" anchor="ctr"/>
            <a:lstStyle/>
            <a:p>
              <a:pPr marL="0" indent="0" algn="ctr"/>
              <a:r>
                <a:rPr lang="en-US" b="1" dirty="0"/>
                <a:t>12</a:t>
              </a:r>
            </a:p>
          </p:txBody>
        </p:sp>
        <p:sp>
          <p:nvSpPr>
            <p:cNvPr id="123" name="Text Box 123"/>
            <p:cNvSpPr>
              <a:spLocks/>
            </p:cNvSpPr>
            <p:nvPr/>
          </p:nvSpPr>
          <p:spPr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round/>
              <a:headEnd/>
              <a:tailEnd/>
            </a:ln>
            <a:effectLst/>
          </p:spPr>
          <p:txBody>
            <a:bodyPr wrap="none" numCol="1" anchor="ctr"/>
            <a:lstStyle/>
            <a:p>
              <a:pPr marL="0" indent="0" algn="ctr"/>
              <a:r>
                <a:rPr lang="en-US" b="1" dirty="0"/>
                <a:t>77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Box 124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"Bubbling Up" the Largest Element</a:t>
            </a:r>
          </a:p>
        </p:txBody>
      </p:sp>
      <p:sp>
        <p:nvSpPr>
          <p:cNvPr id="125" name="Text Box 125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b="1" dirty="0"/>
              <a:t>Traverse a collection of elements</a:t>
            </a:r>
          </a:p>
          <a:p>
            <a:pPr marL="742950" lvl="1" indent="-285750"/>
            <a:r>
              <a:rPr lang="en-US" b="1" dirty="0"/>
              <a:t>Move from the front to the end</a:t>
            </a:r>
          </a:p>
          <a:p>
            <a:pPr marL="742950" lvl="1" indent="-285750"/>
            <a:r>
              <a:rPr lang="en-US" b="1" dirty="0"/>
              <a:t>“Bubble” the largest value to the end using pair-wise comparisons and swapping</a:t>
            </a:r>
          </a:p>
        </p:txBody>
      </p:sp>
      <p:sp>
        <p:nvSpPr>
          <p:cNvPr id="126" name="Text Box 126"/>
          <p:cNvSpPr>
            <a:spLocks/>
          </p:cNvSpPr>
          <p:nvPr/>
        </p:nvSpPr>
        <p:spPr>
          <a:xfrm>
            <a:off x="1211262" y="4592637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27" name="Text Box 127"/>
          <p:cNvSpPr>
            <a:spLocks/>
          </p:cNvSpPr>
          <p:nvPr/>
        </p:nvSpPr>
        <p:spPr>
          <a:xfrm>
            <a:off x="2220912" y="4587875"/>
            <a:ext cx="0" cy="712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28" name="Text Box 128"/>
          <p:cNvSpPr>
            <a:spLocks/>
          </p:cNvSpPr>
          <p:nvPr/>
        </p:nvSpPr>
        <p:spPr>
          <a:xfrm>
            <a:off x="3238500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29" name="Text Box 129"/>
          <p:cNvSpPr>
            <a:spLocks/>
          </p:cNvSpPr>
          <p:nvPr/>
        </p:nvSpPr>
        <p:spPr>
          <a:xfrm>
            <a:off x="4276725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30" name="Text Box 130"/>
          <p:cNvSpPr>
            <a:spLocks/>
          </p:cNvSpPr>
          <p:nvPr/>
        </p:nvSpPr>
        <p:spPr>
          <a:xfrm>
            <a:off x="5386387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31" name="Text Box 131"/>
          <p:cNvSpPr>
            <a:spLocks/>
          </p:cNvSpPr>
          <p:nvPr/>
        </p:nvSpPr>
        <p:spPr>
          <a:xfrm>
            <a:off x="6540500" y="4600575"/>
            <a:ext cx="0" cy="700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32" name="Text Box 132"/>
          <p:cNvSpPr>
            <a:spLocks/>
          </p:cNvSpPr>
          <p:nvPr/>
        </p:nvSpPr>
        <p:spPr>
          <a:xfrm>
            <a:off x="6958012" y="4767262"/>
            <a:ext cx="3540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5</a:t>
            </a:r>
          </a:p>
        </p:txBody>
      </p:sp>
      <p:sp>
        <p:nvSpPr>
          <p:cNvPr id="133" name="Text Box 133"/>
          <p:cNvSpPr>
            <a:spLocks/>
          </p:cNvSpPr>
          <p:nvPr/>
        </p:nvSpPr>
        <p:spPr>
          <a:xfrm>
            <a:off x="4516437" y="47545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77</a:t>
            </a:r>
          </a:p>
        </p:txBody>
      </p:sp>
      <p:sp>
        <p:nvSpPr>
          <p:cNvPr id="134" name="Text Box 134"/>
          <p:cNvSpPr>
            <a:spLocks/>
          </p:cNvSpPr>
          <p:nvPr/>
        </p:nvSpPr>
        <p:spPr>
          <a:xfrm>
            <a:off x="343058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12</a:t>
            </a:r>
          </a:p>
        </p:txBody>
      </p:sp>
      <p:sp>
        <p:nvSpPr>
          <p:cNvPr id="135" name="Text Box 135"/>
          <p:cNvSpPr>
            <a:spLocks/>
          </p:cNvSpPr>
          <p:nvPr/>
        </p:nvSpPr>
        <p:spPr>
          <a:xfrm>
            <a:off x="234473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35</a:t>
            </a:r>
          </a:p>
        </p:txBody>
      </p:sp>
      <p:sp>
        <p:nvSpPr>
          <p:cNvPr id="136" name="Text Box 136"/>
          <p:cNvSpPr>
            <a:spLocks/>
          </p:cNvSpPr>
          <p:nvPr/>
        </p:nvSpPr>
        <p:spPr>
          <a:xfrm>
            <a:off x="1376362" y="4781550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42</a:t>
            </a:r>
          </a:p>
        </p:txBody>
      </p:sp>
      <p:sp>
        <p:nvSpPr>
          <p:cNvPr id="137" name="Text Box 137"/>
          <p:cNvSpPr>
            <a:spLocks/>
          </p:cNvSpPr>
          <p:nvPr/>
        </p:nvSpPr>
        <p:spPr>
          <a:xfrm>
            <a:off x="5559425" y="4752975"/>
            <a:ext cx="69373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101</a:t>
            </a:r>
          </a:p>
        </p:txBody>
      </p:sp>
      <p:sp>
        <p:nvSpPr>
          <p:cNvPr id="138" name="Text Box 138"/>
          <p:cNvSpPr>
            <a:spLocks/>
          </p:cNvSpPr>
          <p:nvPr/>
        </p:nvSpPr>
        <p:spPr>
          <a:xfrm>
            <a:off x="1524000" y="4132262"/>
            <a:ext cx="6567504" cy="46230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0          1          2          3          4            5           </a:t>
            </a:r>
          </a:p>
        </p:txBody>
      </p:sp>
      <p:sp>
        <p:nvSpPr>
          <p:cNvPr id="139" name="Text Box 139"/>
          <p:cNvSpPr>
            <a:spLocks/>
          </p:cNvSpPr>
          <p:nvPr/>
        </p:nvSpPr>
        <p:spPr>
          <a:xfrm>
            <a:off x="4291012" y="4587875"/>
            <a:ext cx="1081087" cy="708025"/>
          </a:xfrm>
          <a:prstGeom prst="rect">
            <a:avLst/>
          </a:prstGeom>
          <a:noFill/>
          <a:ln w="76200">
            <a:solidFill>
              <a:srgbClr val="FF0033"/>
            </a:solidFill>
            <a:round/>
            <a:headEnd/>
            <a:tailEnd/>
          </a:ln>
          <a:effectLst/>
        </p:spPr>
      </p:sp>
      <p:sp>
        <p:nvSpPr>
          <p:cNvPr id="140" name="Text Box 140"/>
          <p:cNvSpPr>
            <a:spLocks/>
          </p:cNvSpPr>
          <p:nvPr/>
        </p:nvSpPr>
        <p:spPr>
          <a:xfrm>
            <a:off x="5386387" y="4587875"/>
            <a:ext cx="1152525" cy="708025"/>
          </a:xfrm>
          <a:prstGeom prst="rect">
            <a:avLst/>
          </a:prstGeom>
          <a:noFill/>
          <a:ln w="76200">
            <a:solidFill>
              <a:srgbClr val="FF0033"/>
            </a:solidFill>
            <a:round/>
            <a:headEnd/>
            <a:tailEnd/>
          </a:ln>
          <a:effectLst/>
        </p:spPr>
      </p:sp>
      <p:sp>
        <p:nvSpPr>
          <p:cNvPr id="141" name="Text Box 141"/>
          <p:cNvSpPr txBox="1">
            <a:spLocks/>
          </p:cNvSpPr>
          <p:nvPr/>
        </p:nvSpPr>
        <p:spPr>
          <a:xfrm>
            <a:off x="4157662" y="5454650"/>
            <a:ext cx="26035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3333FF"/>
                </a:solidFill>
              </a:rPr>
              <a:t>No need to swap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Box 14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"Bubbling Up" the Largest Element</a:t>
            </a:r>
          </a:p>
        </p:txBody>
      </p:sp>
      <p:sp>
        <p:nvSpPr>
          <p:cNvPr id="143" name="Text Box 14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b="1" dirty="0"/>
              <a:t>Traverse a collection of elements</a:t>
            </a:r>
          </a:p>
          <a:p>
            <a:pPr marL="742950" lvl="1" indent="-285750"/>
            <a:r>
              <a:rPr lang="en-US" b="1" dirty="0"/>
              <a:t>Move from the front to the end</a:t>
            </a:r>
          </a:p>
          <a:p>
            <a:pPr marL="742950" lvl="1" indent="-285750"/>
            <a:r>
              <a:rPr lang="en-US" b="1" dirty="0"/>
              <a:t>“Bubble” the largest value to the end using pair-wise comparisons and swapping</a:t>
            </a:r>
          </a:p>
        </p:txBody>
      </p:sp>
      <p:sp>
        <p:nvSpPr>
          <p:cNvPr id="144" name="Text Box 144"/>
          <p:cNvSpPr>
            <a:spLocks/>
          </p:cNvSpPr>
          <p:nvPr/>
        </p:nvSpPr>
        <p:spPr>
          <a:xfrm>
            <a:off x="1211262" y="4592637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45" name="Text Box 145"/>
          <p:cNvSpPr>
            <a:spLocks/>
          </p:cNvSpPr>
          <p:nvPr/>
        </p:nvSpPr>
        <p:spPr>
          <a:xfrm>
            <a:off x="2220912" y="4587875"/>
            <a:ext cx="0" cy="712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46" name="Text Box 146"/>
          <p:cNvSpPr>
            <a:spLocks/>
          </p:cNvSpPr>
          <p:nvPr/>
        </p:nvSpPr>
        <p:spPr>
          <a:xfrm>
            <a:off x="3238500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47" name="Text Box 147"/>
          <p:cNvSpPr>
            <a:spLocks/>
          </p:cNvSpPr>
          <p:nvPr/>
        </p:nvSpPr>
        <p:spPr>
          <a:xfrm>
            <a:off x="4276725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48" name="Text Box 148"/>
          <p:cNvSpPr>
            <a:spLocks/>
          </p:cNvSpPr>
          <p:nvPr/>
        </p:nvSpPr>
        <p:spPr>
          <a:xfrm>
            <a:off x="5386387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49" name="Text Box 149"/>
          <p:cNvSpPr>
            <a:spLocks/>
          </p:cNvSpPr>
          <p:nvPr/>
        </p:nvSpPr>
        <p:spPr>
          <a:xfrm>
            <a:off x="6540500" y="4600575"/>
            <a:ext cx="0" cy="700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50" name="Text Box 150"/>
          <p:cNvSpPr>
            <a:spLocks/>
          </p:cNvSpPr>
          <p:nvPr/>
        </p:nvSpPr>
        <p:spPr>
          <a:xfrm>
            <a:off x="6958012" y="4767262"/>
            <a:ext cx="3540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5</a:t>
            </a:r>
          </a:p>
        </p:txBody>
      </p:sp>
      <p:sp>
        <p:nvSpPr>
          <p:cNvPr id="151" name="Text Box 151"/>
          <p:cNvSpPr>
            <a:spLocks/>
          </p:cNvSpPr>
          <p:nvPr/>
        </p:nvSpPr>
        <p:spPr>
          <a:xfrm>
            <a:off x="4516437" y="47545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77</a:t>
            </a:r>
          </a:p>
        </p:txBody>
      </p:sp>
      <p:sp>
        <p:nvSpPr>
          <p:cNvPr id="152" name="Text Box 152"/>
          <p:cNvSpPr>
            <a:spLocks/>
          </p:cNvSpPr>
          <p:nvPr/>
        </p:nvSpPr>
        <p:spPr>
          <a:xfrm>
            <a:off x="343058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12</a:t>
            </a:r>
          </a:p>
        </p:txBody>
      </p:sp>
      <p:sp>
        <p:nvSpPr>
          <p:cNvPr id="153" name="Text Box 153"/>
          <p:cNvSpPr>
            <a:spLocks/>
          </p:cNvSpPr>
          <p:nvPr/>
        </p:nvSpPr>
        <p:spPr>
          <a:xfrm>
            <a:off x="234473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35</a:t>
            </a:r>
          </a:p>
        </p:txBody>
      </p:sp>
      <p:sp>
        <p:nvSpPr>
          <p:cNvPr id="154" name="Text Box 154"/>
          <p:cNvSpPr>
            <a:spLocks/>
          </p:cNvSpPr>
          <p:nvPr/>
        </p:nvSpPr>
        <p:spPr>
          <a:xfrm>
            <a:off x="1376362" y="4781550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42</a:t>
            </a:r>
          </a:p>
        </p:txBody>
      </p:sp>
      <p:sp>
        <p:nvSpPr>
          <p:cNvPr id="155" name="Text Box 155"/>
          <p:cNvSpPr>
            <a:spLocks/>
          </p:cNvSpPr>
          <p:nvPr/>
        </p:nvSpPr>
        <p:spPr>
          <a:xfrm>
            <a:off x="5559425" y="4752975"/>
            <a:ext cx="69373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101</a:t>
            </a:r>
          </a:p>
        </p:txBody>
      </p:sp>
      <p:sp>
        <p:nvSpPr>
          <p:cNvPr id="156" name="Text Box 156"/>
          <p:cNvSpPr>
            <a:spLocks/>
          </p:cNvSpPr>
          <p:nvPr/>
        </p:nvSpPr>
        <p:spPr>
          <a:xfrm>
            <a:off x="1524000" y="4132262"/>
            <a:ext cx="6739024" cy="46230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0         1          2          3          4            5            </a:t>
            </a:r>
          </a:p>
        </p:txBody>
      </p:sp>
      <p:sp>
        <p:nvSpPr>
          <p:cNvPr id="157" name="Text Box 157"/>
          <p:cNvSpPr>
            <a:spLocks/>
          </p:cNvSpPr>
          <p:nvPr/>
        </p:nvSpPr>
        <p:spPr>
          <a:xfrm>
            <a:off x="5400675" y="4584700"/>
            <a:ext cx="1139825" cy="708025"/>
          </a:xfrm>
          <a:prstGeom prst="rect">
            <a:avLst/>
          </a:prstGeom>
          <a:noFill/>
          <a:ln w="76200">
            <a:solidFill>
              <a:srgbClr val="FF0033"/>
            </a:solidFill>
            <a:round/>
            <a:headEnd/>
            <a:tailEnd/>
          </a:ln>
          <a:effectLst/>
        </p:spPr>
      </p:sp>
      <p:sp>
        <p:nvSpPr>
          <p:cNvPr id="158" name="Text Box 158"/>
          <p:cNvSpPr>
            <a:spLocks/>
          </p:cNvSpPr>
          <p:nvPr/>
        </p:nvSpPr>
        <p:spPr>
          <a:xfrm>
            <a:off x="6553200" y="4584700"/>
            <a:ext cx="1152525" cy="708025"/>
          </a:xfrm>
          <a:prstGeom prst="rect">
            <a:avLst/>
          </a:prstGeom>
          <a:noFill/>
          <a:ln w="76200">
            <a:solidFill>
              <a:srgbClr val="FF0033"/>
            </a:solidFill>
            <a:round/>
            <a:headEnd/>
            <a:tailEnd/>
          </a:ln>
          <a:effectLst/>
        </p:spPr>
      </p:sp>
      <p:sp>
        <p:nvSpPr>
          <p:cNvPr id="159" name="Text Box 159"/>
          <p:cNvSpPr>
            <a:spLocks/>
          </p:cNvSpPr>
          <p:nvPr/>
        </p:nvSpPr>
        <p:spPr>
          <a:xfrm>
            <a:off x="5289550" y="4156075"/>
            <a:ext cx="250190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ctr"/>
          <a:lstStyle/>
          <a:p>
            <a:pPr marL="0" indent="0" algn="ctr"/>
            <a:r>
              <a:rPr lang="en-US" b="1" dirty="0"/>
              <a:t>Swap</a:t>
            </a:r>
          </a:p>
        </p:txBody>
      </p:sp>
      <p:grpSp>
        <p:nvGrpSpPr>
          <p:cNvPr id="161" name="Group 161"/>
          <p:cNvGrpSpPr>
            <a:grpSpLocks/>
          </p:cNvGrpSpPr>
          <p:nvPr/>
        </p:nvGrpSpPr>
        <p:grpSpPr>
          <a:xfrm>
            <a:off x="5400675" y="4591050"/>
            <a:ext cx="2328862" cy="708025"/>
            <a:chOff x="760" y="2895"/>
            <a:chExt cx="1272" cy="446"/>
          </a:xfrm>
        </p:grpSpPr>
        <p:sp>
          <p:nvSpPr>
            <p:cNvPr id="162" name="Text Box 162"/>
            <p:cNvSpPr>
              <a:spLocks/>
            </p:cNvSpPr>
            <p:nvPr/>
          </p:nvSpPr>
          <p:spPr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round/>
              <a:headEnd/>
              <a:tailEnd/>
            </a:ln>
            <a:effectLst/>
          </p:spPr>
          <p:txBody>
            <a:bodyPr wrap="none" numCol="1" anchor="ctr"/>
            <a:lstStyle/>
            <a:p>
              <a:pPr marL="0" indent="0" algn="ctr"/>
              <a:r>
                <a:rPr lang="en-US" b="1" dirty="0"/>
                <a:t>5</a:t>
              </a:r>
            </a:p>
          </p:txBody>
        </p:sp>
        <p:sp>
          <p:nvSpPr>
            <p:cNvPr id="163" name="Text Box 163"/>
            <p:cNvSpPr>
              <a:spLocks/>
            </p:cNvSpPr>
            <p:nvPr/>
          </p:nvSpPr>
          <p:spPr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round/>
              <a:headEnd/>
              <a:tailEnd/>
            </a:ln>
            <a:effectLst/>
          </p:spPr>
          <p:txBody>
            <a:bodyPr wrap="none" numCol="1" anchor="ctr"/>
            <a:lstStyle/>
            <a:p>
              <a:pPr marL="0" indent="0" algn="ctr"/>
              <a:r>
                <a:rPr lang="en-US" b="1" dirty="0"/>
                <a:t>101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Box 164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"Bubbling Up" the Largest Element</a:t>
            </a:r>
          </a:p>
        </p:txBody>
      </p:sp>
      <p:sp>
        <p:nvSpPr>
          <p:cNvPr id="165" name="Text Box 165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b="1" dirty="0"/>
              <a:t>Traverse a collection of elements</a:t>
            </a:r>
          </a:p>
          <a:p>
            <a:pPr marL="742950" lvl="1" indent="-285750"/>
            <a:r>
              <a:rPr lang="en-US" b="1" dirty="0"/>
              <a:t>Move from the front to the end</a:t>
            </a:r>
          </a:p>
          <a:p>
            <a:pPr marL="742950" lvl="1" indent="-285750"/>
            <a:r>
              <a:rPr lang="en-US" b="1" dirty="0"/>
              <a:t>“Bubble” the largest value to the end using pair-wise comparisons and swapping</a:t>
            </a:r>
          </a:p>
        </p:txBody>
      </p:sp>
      <p:sp>
        <p:nvSpPr>
          <p:cNvPr id="166" name="Text Box 166"/>
          <p:cNvSpPr>
            <a:spLocks/>
          </p:cNvSpPr>
          <p:nvPr/>
        </p:nvSpPr>
        <p:spPr>
          <a:xfrm>
            <a:off x="1211262" y="4592637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67" name="Text Box 167"/>
          <p:cNvSpPr>
            <a:spLocks/>
          </p:cNvSpPr>
          <p:nvPr/>
        </p:nvSpPr>
        <p:spPr>
          <a:xfrm>
            <a:off x="2220912" y="4587875"/>
            <a:ext cx="0" cy="712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68" name="Text Box 168"/>
          <p:cNvSpPr>
            <a:spLocks/>
          </p:cNvSpPr>
          <p:nvPr/>
        </p:nvSpPr>
        <p:spPr>
          <a:xfrm>
            <a:off x="3238500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69" name="Text Box 169"/>
          <p:cNvSpPr>
            <a:spLocks/>
          </p:cNvSpPr>
          <p:nvPr/>
        </p:nvSpPr>
        <p:spPr>
          <a:xfrm>
            <a:off x="4276725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70" name="Text Box 170"/>
          <p:cNvSpPr>
            <a:spLocks/>
          </p:cNvSpPr>
          <p:nvPr/>
        </p:nvSpPr>
        <p:spPr>
          <a:xfrm>
            <a:off x="5386387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71" name="Text Box 171"/>
          <p:cNvSpPr>
            <a:spLocks/>
          </p:cNvSpPr>
          <p:nvPr/>
        </p:nvSpPr>
        <p:spPr>
          <a:xfrm>
            <a:off x="6540500" y="4600575"/>
            <a:ext cx="0" cy="700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72" name="Text Box 172"/>
          <p:cNvSpPr>
            <a:spLocks/>
          </p:cNvSpPr>
          <p:nvPr/>
        </p:nvSpPr>
        <p:spPr>
          <a:xfrm>
            <a:off x="4516437" y="47545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77</a:t>
            </a:r>
          </a:p>
        </p:txBody>
      </p:sp>
      <p:sp>
        <p:nvSpPr>
          <p:cNvPr id="173" name="Text Box 173"/>
          <p:cNvSpPr>
            <a:spLocks/>
          </p:cNvSpPr>
          <p:nvPr/>
        </p:nvSpPr>
        <p:spPr>
          <a:xfrm>
            <a:off x="343058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12</a:t>
            </a:r>
          </a:p>
        </p:txBody>
      </p:sp>
      <p:sp>
        <p:nvSpPr>
          <p:cNvPr id="174" name="Text Box 174"/>
          <p:cNvSpPr>
            <a:spLocks/>
          </p:cNvSpPr>
          <p:nvPr/>
        </p:nvSpPr>
        <p:spPr>
          <a:xfrm>
            <a:off x="234473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35</a:t>
            </a:r>
          </a:p>
        </p:txBody>
      </p:sp>
      <p:sp>
        <p:nvSpPr>
          <p:cNvPr id="175" name="Text Box 175"/>
          <p:cNvSpPr>
            <a:spLocks/>
          </p:cNvSpPr>
          <p:nvPr/>
        </p:nvSpPr>
        <p:spPr>
          <a:xfrm>
            <a:off x="1376362" y="4781550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42</a:t>
            </a:r>
          </a:p>
        </p:txBody>
      </p:sp>
      <p:sp>
        <p:nvSpPr>
          <p:cNvPr id="176" name="Text Box 176"/>
          <p:cNvSpPr>
            <a:spLocks/>
          </p:cNvSpPr>
          <p:nvPr/>
        </p:nvSpPr>
        <p:spPr>
          <a:xfrm>
            <a:off x="5559425" y="4752975"/>
            <a:ext cx="52228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  5</a:t>
            </a:r>
          </a:p>
        </p:txBody>
      </p:sp>
      <p:sp>
        <p:nvSpPr>
          <p:cNvPr id="177" name="Text Box 177"/>
          <p:cNvSpPr>
            <a:spLocks/>
          </p:cNvSpPr>
          <p:nvPr/>
        </p:nvSpPr>
        <p:spPr>
          <a:xfrm>
            <a:off x="1524000" y="4132262"/>
            <a:ext cx="6823984" cy="46230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0          1          2          3          4            5           </a:t>
            </a:r>
          </a:p>
        </p:txBody>
      </p:sp>
      <p:sp>
        <p:nvSpPr>
          <p:cNvPr id="178" name="Text Box 178"/>
          <p:cNvSpPr>
            <a:spLocks/>
          </p:cNvSpPr>
          <p:nvPr/>
        </p:nvSpPr>
        <p:spPr>
          <a:xfrm>
            <a:off x="6553200" y="4584700"/>
            <a:ext cx="1152525" cy="708025"/>
          </a:xfrm>
          <a:prstGeom prst="rect">
            <a:avLst/>
          </a:prstGeom>
          <a:noFill/>
          <a:ln w="762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ctr"/>
          <a:lstStyle/>
          <a:p>
            <a:pPr marL="0" indent="0" algn="ctr"/>
            <a:r>
              <a:rPr lang="en-US" b="1" dirty="0">
                <a:solidFill>
                  <a:srgbClr val="3333FF"/>
                </a:solidFill>
              </a:rPr>
              <a:t>101</a:t>
            </a:r>
          </a:p>
        </p:txBody>
      </p:sp>
      <p:sp>
        <p:nvSpPr>
          <p:cNvPr id="179" name="Text Box 179"/>
          <p:cNvSpPr txBox="1">
            <a:spLocks/>
          </p:cNvSpPr>
          <p:nvPr/>
        </p:nvSpPr>
        <p:spPr>
          <a:xfrm>
            <a:off x="1990725" y="5524500"/>
            <a:ext cx="457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3333FF"/>
                </a:solidFill>
              </a:rPr>
              <a:t>Largest value correctly placed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Box 18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Items of Interest</a:t>
            </a:r>
          </a:p>
        </p:txBody>
      </p:sp>
      <p:sp>
        <p:nvSpPr>
          <p:cNvPr id="183" name="Text Box 183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sz="2800" b="1" dirty="0"/>
              <a:t>Notice that only the largest value is correctly placed</a:t>
            </a:r>
          </a:p>
          <a:p>
            <a:pPr marL="342900" indent="-342900"/>
            <a:r>
              <a:rPr lang="en-US" sz="2800" b="1" dirty="0">
                <a:solidFill>
                  <a:srgbClr val="3333FF"/>
                </a:solidFill>
              </a:rPr>
              <a:t>All other values are still out of order</a:t>
            </a:r>
          </a:p>
          <a:p>
            <a:pPr marL="342900" indent="-342900"/>
            <a:r>
              <a:rPr lang="en-US" sz="2800" b="1" dirty="0"/>
              <a:t>So we need to </a:t>
            </a:r>
            <a:r>
              <a:rPr lang="en-US" sz="2800" b="1" dirty="0">
                <a:solidFill>
                  <a:srgbClr val="FF0033"/>
                </a:solidFill>
              </a:rPr>
              <a:t>repeat this process</a:t>
            </a:r>
          </a:p>
        </p:txBody>
      </p:sp>
      <p:sp>
        <p:nvSpPr>
          <p:cNvPr id="184" name="Text Box 184"/>
          <p:cNvSpPr>
            <a:spLocks/>
          </p:cNvSpPr>
          <p:nvPr/>
        </p:nvSpPr>
        <p:spPr>
          <a:xfrm>
            <a:off x="1211262" y="4592637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85" name="Text Box 185"/>
          <p:cNvSpPr>
            <a:spLocks/>
          </p:cNvSpPr>
          <p:nvPr/>
        </p:nvSpPr>
        <p:spPr>
          <a:xfrm>
            <a:off x="2220912" y="4587875"/>
            <a:ext cx="0" cy="712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86" name="Text Box 186"/>
          <p:cNvSpPr>
            <a:spLocks/>
          </p:cNvSpPr>
          <p:nvPr/>
        </p:nvSpPr>
        <p:spPr>
          <a:xfrm>
            <a:off x="3238500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87" name="Text Box 187"/>
          <p:cNvSpPr>
            <a:spLocks/>
          </p:cNvSpPr>
          <p:nvPr/>
        </p:nvSpPr>
        <p:spPr>
          <a:xfrm>
            <a:off x="4276725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88" name="Text Box 188"/>
          <p:cNvSpPr>
            <a:spLocks/>
          </p:cNvSpPr>
          <p:nvPr/>
        </p:nvSpPr>
        <p:spPr>
          <a:xfrm>
            <a:off x="5386387" y="4587875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89" name="Text Box 189"/>
          <p:cNvSpPr>
            <a:spLocks/>
          </p:cNvSpPr>
          <p:nvPr/>
        </p:nvSpPr>
        <p:spPr>
          <a:xfrm>
            <a:off x="6540500" y="4600575"/>
            <a:ext cx="0" cy="700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90" name="Text Box 190"/>
          <p:cNvSpPr>
            <a:spLocks/>
          </p:cNvSpPr>
          <p:nvPr/>
        </p:nvSpPr>
        <p:spPr>
          <a:xfrm>
            <a:off x="4516437" y="47545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77</a:t>
            </a:r>
          </a:p>
        </p:txBody>
      </p:sp>
      <p:sp>
        <p:nvSpPr>
          <p:cNvPr id="191" name="Text Box 191"/>
          <p:cNvSpPr>
            <a:spLocks/>
          </p:cNvSpPr>
          <p:nvPr/>
        </p:nvSpPr>
        <p:spPr>
          <a:xfrm>
            <a:off x="343058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12</a:t>
            </a:r>
          </a:p>
        </p:txBody>
      </p:sp>
      <p:sp>
        <p:nvSpPr>
          <p:cNvPr id="192" name="Text Box 192"/>
          <p:cNvSpPr>
            <a:spLocks/>
          </p:cNvSpPr>
          <p:nvPr/>
        </p:nvSpPr>
        <p:spPr>
          <a:xfrm>
            <a:off x="2344737" y="4767262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35</a:t>
            </a:r>
          </a:p>
        </p:txBody>
      </p:sp>
      <p:sp>
        <p:nvSpPr>
          <p:cNvPr id="193" name="Text Box 193"/>
          <p:cNvSpPr>
            <a:spLocks/>
          </p:cNvSpPr>
          <p:nvPr/>
        </p:nvSpPr>
        <p:spPr>
          <a:xfrm>
            <a:off x="1376362" y="4781550"/>
            <a:ext cx="5238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42</a:t>
            </a:r>
          </a:p>
        </p:txBody>
      </p:sp>
      <p:sp>
        <p:nvSpPr>
          <p:cNvPr id="194" name="Text Box 194"/>
          <p:cNvSpPr>
            <a:spLocks/>
          </p:cNvSpPr>
          <p:nvPr/>
        </p:nvSpPr>
        <p:spPr>
          <a:xfrm>
            <a:off x="5559425" y="4752975"/>
            <a:ext cx="52228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  5</a:t>
            </a:r>
          </a:p>
        </p:txBody>
      </p:sp>
      <p:sp>
        <p:nvSpPr>
          <p:cNvPr id="195" name="Text Box 195"/>
          <p:cNvSpPr>
            <a:spLocks/>
          </p:cNvSpPr>
          <p:nvPr/>
        </p:nvSpPr>
        <p:spPr>
          <a:xfrm>
            <a:off x="1524000" y="4132262"/>
            <a:ext cx="6823984" cy="46230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pPr marL="0" indent="0"/>
            <a:r>
              <a:rPr lang="en-US" b="1" dirty="0"/>
              <a:t>0          1          2          3          4            5            </a:t>
            </a:r>
          </a:p>
        </p:txBody>
      </p:sp>
      <p:sp>
        <p:nvSpPr>
          <p:cNvPr id="196" name="Text Box 196"/>
          <p:cNvSpPr>
            <a:spLocks/>
          </p:cNvSpPr>
          <p:nvPr/>
        </p:nvSpPr>
        <p:spPr>
          <a:xfrm>
            <a:off x="6553200" y="4584700"/>
            <a:ext cx="1152525" cy="708025"/>
          </a:xfrm>
          <a:prstGeom prst="rect">
            <a:avLst/>
          </a:prstGeom>
          <a:noFill/>
          <a:ln w="762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ctr"/>
          <a:lstStyle/>
          <a:p>
            <a:pPr marL="0" indent="0" algn="ctr"/>
            <a:r>
              <a:rPr lang="en-US" b="1" dirty="0">
                <a:solidFill>
                  <a:srgbClr val="3333FF"/>
                </a:solidFill>
              </a:rPr>
              <a:t>101</a:t>
            </a:r>
          </a:p>
        </p:txBody>
      </p:sp>
      <p:sp>
        <p:nvSpPr>
          <p:cNvPr id="197" name="Text Box 197"/>
          <p:cNvSpPr txBox="1">
            <a:spLocks/>
          </p:cNvSpPr>
          <p:nvPr/>
        </p:nvSpPr>
        <p:spPr>
          <a:xfrm>
            <a:off x="1990725" y="5524500"/>
            <a:ext cx="457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3333FF"/>
                </a:solidFill>
              </a:rPr>
              <a:t>Largest value correctly placed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Box 198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684212"/>
          </a:xfrm>
          <a:prstGeom prst="rect">
            <a:avLst/>
          </a:prstGeom>
        </p:spPr>
        <p:txBody>
          <a:bodyPr numCol="1"/>
          <a:lstStyle/>
          <a:p>
            <a:r>
              <a:t>Repeat “Bubble Up” How Many Times?</a:t>
            </a:r>
          </a:p>
        </p:txBody>
      </p:sp>
      <p:sp>
        <p:nvSpPr>
          <p:cNvPr id="199" name="Text Box 199"/>
          <p:cNvSpPr>
            <a:spLocks noGrp="1"/>
          </p:cNvSpPr>
          <p:nvPr>
            <p:ph type="body" idx="1"/>
          </p:nvPr>
        </p:nvSpPr>
        <p:spPr>
          <a:xfrm>
            <a:off x="685800" y="1504950"/>
            <a:ext cx="7248525" cy="4591050"/>
          </a:xfrm>
          <a:prstGeom prst="rect">
            <a:avLst/>
          </a:prstGeom>
        </p:spPr>
        <p:txBody>
          <a:bodyPr numCol="1"/>
          <a:lstStyle/>
          <a:p>
            <a:pPr marL="342900" indent="-342900">
              <a:lnSpc>
                <a:spcPct val="90000"/>
              </a:lnSpc>
            </a:pPr>
            <a:r>
              <a:rPr lang="en-US" sz="2800" b="1" dirty="0"/>
              <a:t>If we have N elements…</a:t>
            </a:r>
          </a:p>
          <a:p>
            <a:pPr marL="342900" indent="-342900">
              <a:lnSpc>
                <a:spcPct val="90000"/>
              </a:lnSpc>
            </a:pPr>
            <a:endParaRPr lang="en-US" sz="2800" b="1" dirty="0"/>
          </a:p>
          <a:p>
            <a:pPr marL="342900" indent="-342900">
              <a:lnSpc>
                <a:spcPct val="90000"/>
              </a:lnSpc>
            </a:pPr>
            <a:r>
              <a:rPr lang="en-US" sz="2800" b="1" dirty="0"/>
              <a:t>And if each time we bubble an element, we place it in its correct location…</a:t>
            </a:r>
          </a:p>
          <a:p>
            <a:pPr marL="342900" indent="-342900">
              <a:lnSpc>
                <a:spcPct val="90000"/>
              </a:lnSpc>
            </a:pPr>
            <a:endParaRPr lang="en-US" sz="2800" b="1" dirty="0"/>
          </a:p>
          <a:p>
            <a:pPr marL="342900" indent="-342900">
              <a:lnSpc>
                <a:spcPct val="90000"/>
              </a:lnSpc>
            </a:pPr>
            <a:r>
              <a:rPr lang="en-US" sz="2800" b="1" dirty="0"/>
              <a:t>Then we </a:t>
            </a:r>
            <a:r>
              <a:rPr lang="en-US" sz="2800" b="1" dirty="0">
                <a:solidFill>
                  <a:srgbClr val="3333FF"/>
                </a:solidFill>
              </a:rPr>
              <a:t>repeat the “bubble up” process N – 1 times.</a:t>
            </a:r>
          </a:p>
          <a:p>
            <a:pPr marL="342900" indent="-342900">
              <a:lnSpc>
                <a:spcPct val="90000"/>
              </a:lnSpc>
            </a:pPr>
            <a:endParaRPr lang="en-US" sz="2800" b="1" dirty="0">
              <a:solidFill>
                <a:srgbClr val="3333FF"/>
              </a:solidFill>
            </a:endParaRPr>
          </a:p>
          <a:p>
            <a:pPr marL="342900" indent="-342900">
              <a:lnSpc>
                <a:spcPct val="90000"/>
              </a:lnSpc>
            </a:pPr>
            <a:r>
              <a:rPr lang="en-US" sz="2800" b="1" dirty="0"/>
              <a:t>This </a:t>
            </a:r>
            <a:r>
              <a:rPr lang="en-US" sz="2800" b="1" dirty="0">
                <a:solidFill>
                  <a:srgbClr val="3333FF"/>
                </a:solidFill>
              </a:rPr>
              <a:t>guarantees we’ll correctly </a:t>
            </a:r>
            <a:br>
              <a:rPr lang="en-US" sz="2800" b="1" dirty="0">
                <a:solidFill>
                  <a:srgbClr val="3333FF"/>
                </a:solidFill>
              </a:rPr>
            </a:br>
            <a:r>
              <a:rPr lang="en-US" sz="2800" b="1" dirty="0">
                <a:solidFill>
                  <a:srgbClr val="3333FF"/>
                </a:solidFill>
              </a:rPr>
              <a:t>place all N elements.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Box 200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“Bubbling” All the Elements</a:t>
            </a:r>
          </a:p>
        </p:txBody>
      </p:sp>
      <p:grpSp>
        <p:nvGrpSpPr>
          <p:cNvPr id="201" name="Group 201"/>
          <p:cNvGrpSpPr>
            <a:grpSpLocks/>
          </p:cNvGrpSpPr>
          <p:nvPr/>
        </p:nvGrpSpPr>
        <p:grpSpPr>
          <a:xfrm>
            <a:off x="1501775" y="1717675"/>
            <a:ext cx="7221540" cy="882650"/>
            <a:chOff x="644" y="1072"/>
            <a:chExt cx="4549" cy="556"/>
          </a:xfrm>
        </p:grpSpPr>
        <p:sp>
          <p:nvSpPr>
            <p:cNvPr id="202" name="Text Box 202"/>
            <p:cNvSpPr>
              <a:spLocks/>
            </p:cNvSpPr>
            <p:nvPr/>
          </p:nvSpPr>
          <p:spPr>
            <a:xfrm>
              <a:off x="644" y="1332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03" name="Text Box 203"/>
            <p:cNvSpPr>
              <a:spLocks/>
            </p:cNvSpPr>
            <p:nvPr/>
          </p:nvSpPr>
          <p:spPr>
            <a:xfrm>
              <a:off x="1280" y="1330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04" name="Text Box 204"/>
            <p:cNvSpPr>
              <a:spLocks/>
            </p:cNvSpPr>
            <p:nvPr/>
          </p:nvSpPr>
          <p:spPr>
            <a:xfrm>
              <a:off x="1921" y="1330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05" name="Text Box 205"/>
            <p:cNvSpPr>
              <a:spLocks/>
            </p:cNvSpPr>
            <p:nvPr/>
          </p:nvSpPr>
          <p:spPr>
            <a:xfrm>
              <a:off x="2575" y="1330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06" name="Text Box 206"/>
            <p:cNvSpPr>
              <a:spLocks/>
            </p:cNvSpPr>
            <p:nvPr/>
          </p:nvSpPr>
          <p:spPr>
            <a:xfrm>
              <a:off x="3274" y="1330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07" name="Text Box 207"/>
            <p:cNvSpPr>
              <a:spLocks/>
            </p:cNvSpPr>
            <p:nvPr/>
          </p:nvSpPr>
          <p:spPr>
            <a:xfrm>
              <a:off x="4001" y="1335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08" name="Text Box 208"/>
            <p:cNvSpPr>
              <a:spLocks/>
            </p:cNvSpPr>
            <p:nvPr/>
          </p:nvSpPr>
          <p:spPr>
            <a:xfrm>
              <a:off x="2726" y="1335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77</a:t>
              </a:r>
            </a:p>
          </p:txBody>
        </p:sp>
        <p:sp>
          <p:nvSpPr>
            <p:cNvPr id="209" name="Text Box 209"/>
            <p:cNvSpPr>
              <a:spLocks/>
            </p:cNvSpPr>
            <p:nvPr/>
          </p:nvSpPr>
          <p:spPr>
            <a:xfrm>
              <a:off x="2042" y="134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12</a:t>
              </a:r>
            </a:p>
          </p:txBody>
        </p:sp>
        <p:sp>
          <p:nvSpPr>
            <p:cNvPr id="210" name="Text Box 210"/>
            <p:cNvSpPr>
              <a:spLocks/>
            </p:cNvSpPr>
            <p:nvPr/>
          </p:nvSpPr>
          <p:spPr>
            <a:xfrm>
              <a:off x="1358" y="134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35</a:t>
              </a:r>
            </a:p>
          </p:txBody>
        </p:sp>
        <p:sp>
          <p:nvSpPr>
            <p:cNvPr id="211" name="Text Box 211"/>
            <p:cNvSpPr>
              <a:spLocks/>
            </p:cNvSpPr>
            <p:nvPr/>
          </p:nvSpPr>
          <p:spPr>
            <a:xfrm>
              <a:off x="748" y="1337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42</a:t>
              </a:r>
            </a:p>
          </p:txBody>
        </p:sp>
        <p:sp>
          <p:nvSpPr>
            <p:cNvPr id="212" name="Text Box 212"/>
            <p:cNvSpPr>
              <a:spLocks/>
            </p:cNvSpPr>
            <p:nvPr/>
          </p:nvSpPr>
          <p:spPr>
            <a:xfrm>
              <a:off x="3383" y="1335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 5</a:t>
              </a:r>
            </a:p>
          </p:txBody>
        </p:sp>
        <p:sp>
          <p:nvSpPr>
            <p:cNvPr id="213" name="Text Box 213"/>
            <p:cNvSpPr>
              <a:spLocks/>
            </p:cNvSpPr>
            <p:nvPr/>
          </p:nvSpPr>
          <p:spPr>
            <a:xfrm>
              <a:off x="841" y="1072"/>
              <a:ext cx="4352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0          1          2          3           4            5            </a:t>
              </a:r>
            </a:p>
          </p:txBody>
        </p:sp>
        <p:sp>
          <p:nvSpPr>
            <p:cNvPr id="214" name="Text Box 214"/>
            <p:cNvSpPr>
              <a:spLocks/>
            </p:cNvSpPr>
            <p:nvPr/>
          </p:nvSpPr>
          <p:spPr>
            <a:xfrm>
              <a:off x="4132" y="1335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FF0033"/>
                  </a:solidFill>
                </a:rPr>
                <a:t>101</a:t>
              </a:r>
            </a:p>
          </p:txBody>
        </p:sp>
      </p:grpSp>
      <p:grpSp>
        <p:nvGrpSpPr>
          <p:cNvPr id="216" name="Group 216"/>
          <p:cNvGrpSpPr>
            <a:grpSpLocks/>
          </p:cNvGrpSpPr>
          <p:nvPr/>
        </p:nvGrpSpPr>
        <p:grpSpPr>
          <a:xfrm>
            <a:off x="1497012" y="2636837"/>
            <a:ext cx="7221540" cy="882650"/>
            <a:chOff x="641" y="1651"/>
            <a:chExt cx="4549" cy="556"/>
          </a:xfrm>
        </p:grpSpPr>
        <p:sp>
          <p:nvSpPr>
            <p:cNvPr id="217" name="Text Box 217"/>
            <p:cNvSpPr>
              <a:spLocks/>
            </p:cNvSpPr>
            <p:nvPr/>
          </p:nvSpPr>
          <p:spPr>
            <a:xfrm>
              <a:off x="641" y="191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18" name="Text Box 218"/>
            <p:cNvSpPr>
              <a:spLocks/>
            </p:cNvSpPr>
            <p:nvPr/>
          </p:nvSpPr>
          <p:spPr>
            <a:xfrm>
              <a:off x="1277" y="190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19" name="Text Box 219"/>
            <p:cNvSpPr>
              <a:spLocks/>
            </p:cNvSpPr>
            <p:nvPr/>
          </p:nvSpPr>
          <p:spPr>
            <a:xfrm>
              <a:off x="1918" y="190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20" name="Text Box 220"/>
            <p:cNvSpPr>
              <a:spLocks/>
            </p:cNvSpPr>
            <p:nvPr/>
          </p:nvSpPr>
          <p:spPr>
            <a:xfrm>
              <a:off x="2572" y="190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21" name="Text Box 221"/>
            <p:cNvSpPr>
              <a:spLocks/>
            </p:cNvSpPr>
            <p:nvPr/>
          </p:nvSpPr>
          <p:spPr>
            <a:xfrm>
              <a:off x="3271" y="190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22" name="Text Box 222"/>
            <p:cNvSpPr>
              <a:spLocks/>
            </p:cNvSpPr>
            <p:nvPr/>
          </p:nvSpPr>
          <p:spPr>
            <a:xfrm>
              <a:off x="3998" y="191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23" name="Text Box 223"/>
            <p:cNvSpPr>
              <a:spLocks/>
            </p:cNvSpPr>
            <p:nvPr/>
          </p:nvSpPr>
          <p:spPr>
            <a:xfrm>
              <a:off x="2723" y="1914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5</a:t>
              </a:r>
            </a:p>
          </p:txBody>
        </p:sp>
        <p:sp>
          <p:nvSpPr>
            <p:cNvPr id="224" name="Text Box 224"/>
            <p:cNvSpPr>
              <a:spLocks/>
            </p:cNvSpPr>
            <p:nvPr/>
          </p:nvSpPr>
          <p:spPr>
            <a:xfrm>
              <a:off x="2039" y="1919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42</a:t>
              </a:r>
            </a:p>
          </p:txBody>
        </p:sp>
        <p:sp>
          <p:nvSpPr>
            <p:cNvPr id="225" name="Text Box 225"/>
            <p:cNvSpPr>
              <a:spLocks/>
            </p:cNvSpPr>
            <p:nvPr/>
          </p:nvSpPr>
          <p:spPr>
            <a:xfrm>
              <a:off x="1355" y="1919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12</a:t>
              </a:r>
            </a:p>
          </p:txBody>
        </p:sp>
        <p:sp>
          <p:nvSpPr>
            <p:cNvPr id="226" name="Text Box 226"/>
            <p:cNvSpPr>
              <a:spLocks/>
            </p:cNvSpPr>
            <p:nvPr/>
          </p:nvSpPr>
          <p:spPr>
            <a:xfrm>
              <a:off x="745" y="1916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35</a:t>
              </a:r>
            </a:p>
          </p:txBody>
        </p:sp>
        <p:sp>
          <p:nvSpPr>
            <p:cNvPr id="227" name="Text Box 227"/>
            <p:cNvSpPr>
              <a:spLocks/>
            </p:cNvSpPr>
            <p:nvPr/>
          </p:nvSpPr>
          <p:spPr>
            <a:xfrm>
              <a:off x="3380" y="1914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FF0033"/>
                  </a:solidFill>
                </a:rPr>
                <a:t>77</a:t>
              </a:r>
            </a:p>
          </p:txBody>
        </p:sp>
        <p:sp>
          <p:nvSpPr>
            <p:cNvPr id="228" name="Text Box 228"/>
            <p:cNvSpPr>
              <a:spLocks/>
            </p:cNvSpPr>
            <p:nvPr/>
          </p:nvSpPr>
          <p:spPr>
            <a:xfrm>
              <a:off x="838" y="1651"/>
              <a:ext cx="4352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0         1           2          3           4            5            </a:t>
              </a:r>
            </a:p>
          </p:txBody>
        </p:sp>
        <p:sp>
          <p:nvSpPr>
            <p:cNvPr id="229" name="Text Box 229"/>
            <p:cNvSpPr>
              <a:spLocks/>
            </p:cNvSpPr>
            <p:nvPr/>
          </p:nvSpPr>
          <p:spPr>
            <a:xfrm>
              <a:off x="4129" y="191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FF0033"/>
                  </a:solidFill>
                </a:rPr>
                <a:t>101</a:t>
              </a:r>
            </a:p>
          </p:txBody>
        </p:sp>
      </p:grpSp>
      <p:grpSp>
        <p:nvGrpSpPr>
          <p:cNvPr id="231" name="Group 231"/>
          <p:cNvGrpSpPr>
            <a:grpSpLocks/>
          </p:cNvGrpSpPr>
          <p:nvPr/>
        </p:nvGrpSpPr>
        <p:grpSpPr>
          <a:xfrm>
            <a:off x="1501775" y="3548062"/>
            <a:ext cx="7221540" cy="882650"/>
            <a:chOff x="644" y="2225"/>
            <a:chExt cx="4549" cy="556"/>
          </a:xfrm>
        </p:grpSpPr>
        <p:sp>
          <p:nvSpPr>
            <p:cNvPr id="232" name="Text Box 232"/>
            <p:cNvSpPr>
              <a:spLocks/>
            </p:cNvSpPr>
            <p:nvPr/>
          </p:nvSpPr>
          <p:spPr>
            <a:xfrm>
              <a:off x="644" y="2485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33" name="Text Box 233"/>
            <p:cNvSpPr>
              <a:spLocks/>
            </p:cNvSpPr>
            <p:nvPr/>
          </p:nvSpPr>
          <p:spPr>
            <a:xfrm>
              <a:off x="1280" y="2483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34" name="Text Box 234"/>
            <p:cNvSpPr>
              <a:spLocks/>
            </p:cNvSpPr>
            <p:nvPr/>
          </p:nvSpPr>
          <p:spPr>
            <a:xfrm>
              <a:off x="1921" y="2483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35" name="Text Box 235"/>
            <p:cNvSpPr>
              <a:spLocks/>
            </p:cNvSpPr>
            <p:nvPr/>
          </p:nvSpPr>
          <p:spPr>
            <a:xfrm>
              <a:off x="2575" y="2483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36" name="Text Box 236"/>
            <p:cNvSpPr>
              <a:spLocks/>
            </p:cNvSpPr>
            <p:nvPr/>
          </p:nvSpPr>
          <p:spPr>
            <a:xfrm>
              <a:off x="3274" y="2483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37" name="Text Box 237"/>
            <p:cNvSpPr>
              <a:spLocks/>
            </p:cNvSpPr>
            <p:nvPr/>
          </p:nvSpPr>
          <p:spPr>
            <a:xfrm>
              <a:off x="4001" y="2488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38" name="Text Box 238"/>
            <p:cNvSpPr>
              <a:spLocks/>
            </p:cNvSpPr>
            <p:nvPr/>
          </p:nvSpPr>
          <p:spPr>
            <a:xfrm>
              <a:off x="2726" y="2488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>
                  <a:solidFill>
                    <a:srgbClr val="FF0033"/>
                  </a:solidFill>
                </a:rPr>
                <a:t>42</a:t>
              </a:r>
            </a:p>
          </p:txBody>
        </p:sp>
        <p:sp>
          <p:nvSpPr>
            <p:cNvPr id="239" name="Text Box 239"/>
            <p:cNvSpPr>
              <a:spLocks/>
            </p:cNvSpPr>
            <p:nvPr/>
          </p:nvSpPr>
          <p:spPr>
            <a:xfrm>
              <a:off x="2042" y="2493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5</a:t>
              </a:r>
            </a:p>
          </p:txBody>
        </p:sp>
        <p:sp>
          <p:nvSpPr>
            <p:cNvPr id="240" name="Text Box 240"/>
            <p:cNvSpPr>
              <a:spLocks/>
            </p:cNvSpPr>
            <p:nvPr/>
          </p:nvSpPr>
          <p:spPr>
            <a:xfrm>
              <a:off x="1358" y="2493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35</a:t>
              </a:r>
            </a:p>
          </p:txBody>
        </p:sp>
        <p:sp>
          <p:nvSpPr>
            <p:cNvPr id="241" name="Text Box 241"/>
            <p:cNvSpPr>
              <a:spLocks/>
            </p:cNvSpPr>
            <p:nvPr/>
          </p:nvSpPr>
          <p:spPr>
            <a:xfrm>
              <a:off x="748" y="249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12</a:t>
              </a:r>
            </a:p>
          </p:txBody>
        </p:sp>
        <p:sp>
          <p:nvSpPr>
            <p:cNvPr id="242" name="Text Box 242"/>
            <p:cNvSpPr>
              <a:spLocks/>
            </p:cNvSpPr>
            <p:nvPr/>
          </p:nvSpPr>
          <p:spPr>
            <a:xfrm>
              <a:off x="3383" y="2488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FF0033"/>
                  </a:solidFill>
                </a:rPr>
                <a:t>77</a:t>
              </a:r>
            </a:p>
          </p:txBody>
        </p:sp>
        <p:sp>
          <p:nvSpPr>
            <p:cNvPr id="243" name="Text Box 243"/>
            <p:cNvSpPr>
              <a:spLocks/>
            </p:cNvSpPr>
            <p:nvPr/>
          </p:nvSpPr>
          <p:spPr>
            <a:xfrm>
              <a:off x="841" y="2225"/>
              <a:ext cx="4352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0         1           2          3           4            5            </a:t>
              </a:r>
            </a:p>
          </p:txBody>
        </p:sp>
        <p:sp>
          <p:nvSpPr>
            <p:cNvPr id="244" name="Text Box 244"/>
            <p:cNvSpPr>
              <a:spLocks/>
            </p:cNvSpPr>
            <p:nvPr/>
          </p:nvSpPr>
          <p:spPr>
            <a:xfrm>
              <a:off x="4132" y="2488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FF0033"/>
                  </a:solidFill>
                </a:rPr>
                <a:t>101</a:t>
              </a:r>
            </a:p>
          </p:txBody>
        </p:sp>
      </p:grpSp>
      <p:grpSp>
        <p:nvGrpSpPr>
          <p:cNvPr id="246" name="Group 246"/>
          <p:cNvGrpSpPr>
            <a:grpSpLocks/>
          </p:cNvGrpSpPr>
          <p:nvPr/>
        </p:nvGrpSpPr>
        <p:grpSpPr>
          <a:xfrm>
            <a:off x="1497012" y="4430712"/>
            <a:ext cx="7221540" cy="882650"/>
            <a:chOff x="641" y="2781"/>
            <a:chExt cx="4549" cy="556"/>
          </a:xfrm>
        </p:grpSpPr>
        <p:sp>
          <p:nvSpPr>
            <p:cNvPr id="247" name="Text Box 247"/>
            <p:cNvSpPr>
              <a:spLocks/>
            </p:cNvSpPr>
            <p:nvPr/>
          </p:nvSpPr>
          <p:spPr>
            <a:xfrm>
              <a:off x="641" y="304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48" name="Text Box 248"/>
            <p:cNvSpPr>
              <a:spLocks/>
            </p:cNvSpPr>
            <p:nvPr/>
          </p:nvSpPr>
          <p:spPr>
            <a:xfrm>
              <a:off x="1277" y="303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49" name="Text Box 249"/>
            <p:cNvSpPr>
              <a:spLocks/>
            </p:cNvSpPr>
            <p:nvPr/>
          </p:nvSpPr>
          <p:spPr>
            <a:xfrm>
              <a:off x="1918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50" name="Text Box 250"/>
            <p:cNvSpPr>
              <a:spLocks/>
            </p:cNvSpPr>
            <p:nvPr/>
          </p:nvSpPr>
          <p:spPr>
            <a:xfrm>
              <a:off x="2572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51" name="Text Box 251"/>
            <p:cNvSpPr>
              <a:spLocks/>
            </p:cNvSpPr>
            <p:nvPr/>
          </p:nvSpPr>
          <p:spPr>
            <a:xfrm>
              <a:off x="3271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52" name="Text Box 252"/>
            <p:cNvSpPr>
              <a:spLocks/>
            </p:cNvSpPr>
            <p:nvPr/>
          </p:nvSpPr>
          <p:spPr>
            <a:xfrm>
              <a:off x="3998" y="304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53" name="Text Box 253"/>
            <p:cNvSpPr>
              <a:spLocks/>
            </p:cNvSpPr>
            <p:nvPr/>
          </p:nvSpPr>
          <p:spPr>
            <a:xfrm>
              <a:off x="2723" y="304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>
                  <a:solidFill>
                    <a:srgbClr val="FF0033"/>
                  </a:solidFill>
                </a:rPr>
                <a:t>42</a:t>
              </a:r>
            </a:p>
          </p:txBody>
        </p:sp>
        <p:sp>
          <p:nvSpPr>
            <p:cNvPr id="254" name="Text Box 254"/>
            <p:cNvSpPr>
              <a:spLocks/>
            </p:cNvSpPr>
            <p:nvPr/>
          </p:nvSpPr>
          <p:spPr>
            <a:xfrm>
              <a:off x="2039" y="3049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FF0033"/>
                  </a:solidFill>
                </a:rPr>
                <a:t>35</a:t>
              </a:r>
            </a:p>
          </p:txBody>
        </p:sp>
        <p:sp>
          <p:nvSpPr>
            <p:cNvPr id="255" name="Text Box 255"/>
            <p:cNvSpPr>
              <a:spLocks/>
            </p:cNvSpPr>
            <p:nvPr/>
          </p:nvSpPr>
          <p:spPr>
            <a:xfrm>
              <a:off x="1355" y="3049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 5</a:t>
              </a:r>
            </a:p>
          </p:txBody>
        </p:sp>
        <p:sp>
          <p:nvSpPr>
            <p:cNvPr id="256" name="Text Box 256"/>
            <p:cNvSpPr>
              <a:spLocks/>
            </p:cNvSpPr>
            <p:nvPr/>
          </p:nvSpPr>
          <p:spPr>
            <a:xfrm>
              <a:off x="745" y="3046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12</a:t>
              </a:r>
            </a:p>
          </p:txBody>
        </p:sp>
        <p:sp>
          <p:nvSpPr>
            <p:cNvPr id="257" name="Text Box 257"/>
            <p:cNvSpPr>
              <a:spLocks/>
            </p:cNvSpPr>
            <p:nvPr/>
          </p:nvSpPr>
          <p:spPr>
            <a:xfrm>
              <a:off x="3380" y="3044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FF0033"/>
                  </a:solidFill>
                </a:rPr>
                <a:t>77</a:t>
              </a:r>
            </a:p>
          </p:txBody>
        </p:sp>
        <p:sp>
          <p:nvSpPr>
            <p:cNvPr id="258" name="Text Box 258"/>
            <p:cNvSpPr>
              <a:spLocks/>
            </p:cNvSpPr>
            <p:nvPr/>
          </p:nvSpPr>
          <p:spPr>
            <a:xfrm>
              <a:off x="838" y="2781"/>
              <a:ext cx="4352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0         1           2          3           4            5            </a:t>
              </a:r>
            </a:p>
          </p:txBody>
        </p:sp>
        <p:sp>
          <p:nvSpPr>
            <p:cNvPr id="259" name="Text Box 259"/>
            <p:cNvSpPr>
              <a:spLocks/>
            </p:cNvSpPr>
            <p:nvPr/>
          </p:nvSpPr>
          <p:spPr>
            <a:xfrm>
              <a:off x="4129" y="304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FF0033"/>
                  </a:solidFill>
                </a:rPr>
                <a:t>101</a:t>
              </a:r>
            </a:p>
          </p:txBody>
        </p:sp>
      </p:grpSp>
      <p:grpSp>
        <p:nvGrpSpPr>
          <p:cNvPr id="261" name="Group 261"/>
          <p:cNvGrpSpPr>
            <a:grpSpLocks/>
          </p:cNvGrpSpPr>
          <p:nvPr/>
        </p:nvGrpSpPr>
        <p:grpSpPr>
          <a:xfrm>
            <a:off x="1497012" y="5351462"/>
            <a:ext cx="7221540" cy="882650"/>
            <a:chOff x="641" y="3361"/>
            <a:chExt cx="4549" cy="556"/>
          </a:xfrm>
        </p:grpSpPr>
        <p:sp>
          <p:nvSpPr>
            <p:cNvPr id="262" name="Text Box 262"/>
            <p:cNvSpPr>
              <a:spLocks/>
            </p:cNvSpPr>
            <p:nvPr/>
          </p:nvSpPr>
          <p:spPr>
            <a:xfrm>
              <a:off x="641" y="362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63" name="Text Box 263"/>
            <p:cNvSpPr>
              <a:spLocks/>
            </p:cNvSpPr>
            <p:nvPr/>
          </p:nvSpPr>
          <p:spPr>
            <a:xfrm>
              <a:off x="1277" y="361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64" name="Text Box 264"/>
            <p:cNvSpPr>
              <a:spLocks/>
            </p:cNvSpPr>
            <p:nvPr/>
          </p:nvSpPr>
          <p:spPr>
            <a:xfrm>
              <a:off x="1918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65" name="Text Box 265"/>
            <p:cNvSpPr>
              <a:spLocks/>
            </p:cNvSpPr>
            <p:nvPr/>
          </p:nvSpPr>
          <p:spPr>
            <a:xfrm>
              <a:off x="2572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66" name="Text Box 266"/>
            <p:cNvSpPr>
              <a:spLocks/>
            </p:cNvSpPr>
            <p:nvPr/>
          </p:nvSpPr>
          <p:spPr>
            <a:xfrm>
              <a:off x="3271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67" name="Text Box 267"/>
            <p:cNvSpPr>
              <a:spLocks/>
            </p:cNvSpPr>
            <p:nvPr/>
          </p:nvSpPr>
          <p:spPr>
            <a:xfrm>
              <a:off x="3998" y="362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68" name="Text Box 268"/>
            <p:cNvSpPr>
              <a:spLocks/>
            </p:cNvSpPr>
            <p:nvPr/>
          </p:nvSpPr>
          <p:spPr>
            <a:xfrm>
              <a:off x="2723" y="362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>
                  <a:solidFill>
                    <a:srgbClr val="FF0033"/>
                  </a:solidFill>
                </a:rPr>
                <a:t>42</a:t>
              </a:r>
            </a:p>
          </p:txBody>
        </p:sp>
        <p:sp>
          <p:nvSpPr>
            <p:cNvPr id="269" name="Text Box 269"/>
            <p:cNvSpPr>
              <a:spLocks/>
            </p:cNvSpPr>
            <p:nvPr/>
          </p:nvSpPr>
          <p:spPr>
            <a:xfrm>
              <a:off x="2039" y="3629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FF0033"/>
                  </a:solidFill>
                </a:rPr>
                <a:t>35</a:t>
              </a:r>
            </a:p>
          </p:txBody>
        </p:sp>
        <p:sp>
          <p:nvSpPr>
            <p:cNvPr id="270" name="Text Box 270"/>
            <p:cNvSpPr>
              <a:spLocks/>
            </p:cNvSpPr>
            <p:nvPr/>
          </p:nvSpPr>
          <p:spPr>
            <a:xfrm>
              <a:off x="1355" y="3629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FF0033"/>
                  </a:solidFill>
                </a:rPr>
                <a:t>12</a:t>
              </a:r>
            </a:p>
          </p:txBody>
        </p:sp>
        <p:sp>
          <p:nvSpPr>
            <p:cNvPr id="271" name="Text Box 271"/>
            <p:cNvSpPr>
              <a:spLocks/>
            </p:cNvSpPr>
            <p:nvPr/>
          </p:nvSpPr>
          <p:spPr>
            <a:xfrm>
              <a:off x="745" y="3626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3333FF"/>
                  </a:solidFill>
                </a:rPr>
                <a:t>5</a:t>
              </a:r>
            </a:p>
          </p:txBody>
        </p:sp>
        <p:sp>
          <p:nvSpPr>
            <p:cNvPr id="272" name="Text Box 272"/>
            <p:cNvSpPr>
              <a:spLocks/>
            </p:cNvSpPr>
            <p:nvPr/>
          </p:nvSpPr>
          <p:spPr>
            <a:xfrm>
              <a:off x="3380" y="3624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FF0033"/>
                  </a:solidFill>
                </a:rPr>
                <a:t>77</a:t>
              </a:r>
            </a:p>
          </p:txBody>
        </p:sp>
        <p:sp>
          <p:nvSpPr>
            <p:cNvPr id="273" name="Text Box 273"/>
            <p:cNvSpPr>
              <a:spLocks/>
            </p:cNvSpPr>
            <p:nvPr/>
          </p:nvSpPr>
          <p:spPr>
            <a:xfrm>
              <a:off x="838" y="3361"/>
              <a:ext cx="4352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0         1           2          3           4            5            </a:t>
              </a:r>
            </a:p>
          </p:txBody>
        </p:sp>
        <p:sp>
          <p:nvSpPr>
            <p:cNvPr id="274" name="Text Box 274"/>
            <p:cNvSpPr>
              <a:spLocks/>
            </p:cNvSpPr>
            <p:nvPr/>
          </p:nvSpPr>
          <p:spPr>
            <a:xfrm>
              <a:off x="4129" y="362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FF0033"/>
                  </a:solidFill>
                </a:rPr>
                <a:t>101</a:t>
              </a:r>
            </a:p>
          </p:txBody>
        </p:sp>
      </p:grpSp>
      <p:grpSp>
        <p:nvGrpSpPr>
          <p:cNvPr id="276" name="Group 276"/>
          <p:cNvGrpSpPr>
            <a:grpSpLocks/>
          </p:cNvGrpSpPr>
          <p:nvPr/>
        </p:nvGrpSpPr>
        <p:grpSpPr>
          <a:xfrm>
            <a:off x="357187" y="2143125"/>
            <a:ext cx="1011237" cy="4106862"/>
            <a:chOff x="225" y="1350"/>
            <a:chExt cx="637" cy="2587"/>
          </a:xfrm>
        </p:grpSpPr>
        <p:sp>
          <p:nvSpPr>
            <p:cNvPr id="277" name="Text Box 277"/>
            <p:cNvSpPr>
              <a:spLocks/>
            </p:cNvSpPr>
            <p:nvPr/>
          </p:nvSpPr>
          <p:spPr>
            <a:xfrm>
              <a:off x="477" y="1350"/>
              <a:ext cx="385" cy="2587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</p:spPr>
        </p:sp>
        <p:sp>
          <p:nvSpPr>
            <p:cNvPr id="278" name="Text Box 278"/>
            <p:cNvSpPr txBox="1">
              <a:spLocks/>
            </p:cNvSpPr>
            <p:nvPr/>
          </p:nvSpPr>
          <p:spPr>
            <a:xfrm rot="-5400000">
              <a:off x="103" y="2498"/>
              <a:ext cx="53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numCol="1" anchor="t">
              <a:spAutoFit/>
            </a:bodyPr>
            <a:lstStyle/>
            <a:p>
              <a:pPr marL="0" indent="0"/>
              <a:r>
                <a:rPr lang="en-US" b="1" dirty="0">
                  <a:solidFill>
                    <a:srgbClr val="3333FF"/>
                  </a:solidFill>
                </a:rPr>
                <a:t>N - 1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 Box 279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Reducing the Number of Comparisons</a:t>
            </a:r>
          </a:p>
        </p:txBody>
      </p:sp>
      <p:grpSp>
        <p:nvGrpSpPr>
          <p:cNvPr id="281" name="Group 281"/>
          <p:cNvGrpSpPr>
            <a:grpSpLocks/>
          </p:cNvGrpSpPr>
          <p:nvPr/>
        </p:nvGrpSpPr>
        <p:grpSpPr>
          <a:xfrm>
            <a:off x="1050925" y="1682750"/>
            <a:ext cx="7307265" cy="882650"/>
            <a:chOff x="641" y="3361"/>
            <a:chExt cx="4603" cy="556"/>
          </a:xfrm>
        </p:grpSpPr>
        <p:sp>
          <p:nvSpPr>
            <p:cNvPr id="282" name="Text Box 282"/>
            <p:cNvSpPr>
              <a:spLocks/>
            </p:cNvSpPr>
            <p:nvPr/>
          </p:nvSpPr>
          <p:spPr>
            <a:xfrm>
              <a:off x="641" y="362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83" name="Text Box 283"/>
            <p:cNvSpPr>
              <a:spLocks/>
            </p:cNvSpPr>
            <p:nvPr/>
          </p:nvSpPr>
          <p:spPr>
            <a:xfrm>
              <a:off x="1277" y="361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84" name="Text Box 284"/>
            <p:cNvSpPr>
              <a:spLocks/>
            </p:cNvSpPr>
            <p:nvPr/>
          </p:nvSpPr>
          <p:spPr>
            <a:xfrm>
              <a:off x="1918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85" name="Text Box 285"/>
            <p:cNvSpPr>
              <a:spLocks/>
            </p:cNvSpPr>
            <p:nvPr/>
          </p:nvSpPr>
          <p:spPr>
            <a:xfrm>
              <a:off x="2572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86" name="Text Box 286"/>
            <p:cNvSpPr>
              <a:spLocks/>
            </p:cNvSpPr>
            <p:nvPr/>
          </p:nvSpPr>
          <p:spPr>
            <a:xfrm>
              <a:off x="3271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87" name="Text Box 287"/>
            <p:cNvSpPr>
              <a:spLocks/>
            </p:cNvSpPr>
            <p:nvPr/>
          </p:nvSpPr>
          <p:spPr>
            <a:xfrm>
              <a:off x="3998" y="362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88" name="Text Box 288"/>
            <p:cNvSpPr>
              <a:spLocks/>
            </p:cNvSpPr>
            <p:nvPr/>
          </p:nvSpPr>
          <p:spPr>
            <a:xfrm>
              <a:off x="2723" y="362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12</a:t>
              </a:r>
            </a:p>
          </p:txBody>
        </p:sp>
        <p:sp>
          <p:nvSpPr>
            <p:cNvPr id="289" name="Text Box 289"/>
            <p:cNvSpPr>
              <a:spLocks/>
            </p:cNvSpPr>
            <p:nvPr/>
          </p:nvSpPr>
          <p:spPr>
            <a:xfrm>
              <a:off x="2039" y="3629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35</a:t>
              </a:r>
            </a:p>
          </p:txBody>
        </p:sp>
        <p:sp>
          <p:nvSpPr>
            <p:cNvPr id="290" name="Text Box 290"/>
            <p:cNvSpPr>
              <a:spLocks/>
            </p:cNvSpPr>
            <p:nvPr/>
          </p:nvSpPr>
          <p:spPr>
            <a:xfrm>
              <a:off x="1355" y="3629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42</a:t>
              </a:r>
            </a:p>
          </p:txBody>
        </p:sp>
        <p:sp>
          <p:nvSpPr>
            <p:cNvPr id="291" name="Text Box 291"/>
            <p:cNvSpPr>
              <a:spLocks/>
            </p:cNvSpPr>
            <p:nvPr/>
          </p:nvSpPr>
          <p:spPr>
            <a:xfrm>
              <a:off x="745" y="3626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77</a:t>
              </a:r>
            </a:p>
          </p:txBody>
        </p:sp>
        <p:sp>
          <p:nvSpPr>
            <p:cNvPr id="292" name="Text Box 292"/>
            <p:cNvSpPr>
              <a:spLocks/>
            </p:cNvSpPr>
            <p:nvPr/>
          </p:nvSpPr>
          <p:spPr>
            <a:xfrm>
              <a:off x="3380" y="362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101</a:t>
              </a:r>
            </a:p>
          </p:txBody>
        </p:sp>
        <p:sp>
          <p:nvSpPr>
            <p:cNvPr id="293" name="Text Box 293"/>
            <p:cNvSpPr>
              <a:spLocks/>
            </p:cNvSpPr>
            <p:nvPr/>
          </p:nvSpPr>
          <p:spPr>
            <a:xfrm>
              <a:off x="838" y="3361"/>
              <a:ext cx="440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0          1          2           3           4            5            </a:t>
              </a:r>
            </a:p>
          </p:txBody>
        </p:sp>
        <p:sp>
          <p:nvSpPr>
            <p:cNvPr id="294" name="Text Box 294"/>
            <p:cNvSpPr>
              <a:spLocks/>
            </p:cNvSpPr>
            <p:nvPr/>
          </p:nvSpPr>
          <p:spPr>
            <a:xfrm>
              <a:off x="4129" y="3624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5</a:t>
              </a:r>
            </a:p>
          </p:txBody>
        </p:sp>
      </p:grpSp>
      <p:grpSp>
        <p:nvGrpSpPr>
          <p:cNvPr id="296" name="Group 296"/>
          <p:cNvGrpSpPr>
            <a:grpSpLocks/>
          </p:cNvGrpSpPr>
          <p:nvPr/>
        </p:nvGrpSpPr>
        <p:grpSpPr>
          <a:xfrm>
            <a:off x="1060450" y="2530475"/>
            <a:ext cx="7312022" cy="882650"/>
            <a:chOff x="668" y="1594"/>
            <a:chExt cx="4606" cy="556"/>
          </a:xfrm>
        </p:grpSpPr>
        <p:grpSp>
          <p:nvGrpSpPr>
            <p:cNvPr id="297" name="Group 297"/>
            <p:cNvGrpSpPr>
              <a:grpSpLocks/>
            </p:cNvGrpSpPr>
            <p:nvPr/>
          </p:nvGrpSpPr>
          <p:grpSpPr>
            <a:xfrm>
              <a:off x="671" y="1594"/>
              <a:ext cx="4603" cy="556"/>
              <a:chOff x="644" y="1072"/>
              <a:chExt cx="4603" cy="556"/>
            </a:xfrm>
          </p:grpSpPr>
          <p:sp>
            <p:nvSpPr>
              <p:cNvPr id="298" name="Text Box 298"/>
              <p:cNvSpPr>
                <a:spLocks/>
              </p:cNvSpPr>
              <p:nvPr/>
            </p:nvSpPr>
            <p:spPr>
              <a:xfrm>
                <a:off x="644" y="1332"/>
                <a:ext cx="4106" cy="2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299" name="Text Box 299"/>
              <p:cNvSpPr>
                <a:spLocks/>
              </p:cNvSpPr>
              <p:nvPr/>
            </p:nvSpPr>
            <p:spPr>
              <a:xfrm>
                <a:off x="1280" y="1330"/>
                <a:ext cx="0" cy="2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00" name="Text Box 300"/>
              <p:cNvSpPr>
                <a:spLocks/>
              </p:cNvSpPr>
              <p:nvPr/>
            </p:nvSpPr>
            <p:spPr>
              <a:xfrm>
                <a:off x="1921" y="1330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01" name="Text Box 301"/>
              <p:cNvSpPr>
                <a:spLocks/>
              </p:cNvSpPr>
              <p:nvPr/>
            </p:nvSpPr>
            <p:spPr>
              <a:xfrm>
                <a:off x="2575" y="1330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02" name="Text Box 302"/>
              <p:cNvSpPr>
                <a:spLocks/>
              </p:cNvSpPr>
              <p:nvPr/>
            </p:nvSpPr>
            <p:spPr>
              <a:xfrm>
                <a:off x="3274" y="1330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03" name="Text Box 303"/>
              <p:cNvSpPr>
                <a:spLocks/>
              </p:cNvSpPr>
              <p:nvPr/>
            </p:nvSpPr>
            <p:spPr>
              <a:xfrm>
                <a:off x="4001" y="1335"/>
                <a:ext cx="0" cy="2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04" name="Text Box 304"/>
              <p:cNvSpPr>
                <a:spLocks/>
              </p:cNvSpPr>
              <p:nvPr/>
            </p:nvSpPr>
            <p:spPr>
              <a:xfrm>
                <a:off x="2726" y="1335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77</a:t>
                </a:r>
              </a:p>
            </p:txBody>
          </p:sp>
          <p:sp>
            <p:nvSpPr>
              <p:cNvPr id="305" name="Text Box 305"/>
              <p:cNvSpPr>
                <a:spLocks/>
              </p:cNvSpPr>
              <p:nvPr/>
            </p:nvSpPr>
            <p:spPr>
              <a:xfrm>
                <a:off x="2042" y="1340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12</a:t>
                </a:r>
              </a:p>
            </p:txBody>
          </p:sp>
          <p:sp>
            <p:nvSpPr>
              <p:cNvPr id="306" name="Text Box 306"/>
              <p:cNvSpPr>
                <a:spLocks/>
              </p:cNvSpPr>
              <p:nvPr/>
            </p:nvSpPr>
            <p:spPr>
              <a:xfrm>
                <a:off x="1358" y="1340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35</a:t>
                </a:r>
              </a:p>
            </p:txBody>
          </p:sp>
          <p:sp>
            <p:nvSpPr>
              <p:cNvPr id="307" name="Text Box 307"/>
              <p:cNvSpPr>
                <a:spLocks/>
              </p:cNvSpPr>
              <p:nvPr/>
            </p:nvSpPr>
            <p:spPr>
              <a:xfrm>
                <a:off x="748" y="1337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42</a:t>
                </a:r>
              </a:p>
            </p:txBody>
          </p:sp>
          <p:sp>
            <p:nvSpPr>
              <p:cNvPr id="308" name="Text Box 308"/>
              <p:cNvSpPr>
                <a:spLocks/>
              </p:cNvSpPr>
              <p:nvPr/>
            </p:nvSpPr>
            <p:spPr>
              <a:xfrm>
                <a:off x="3383" y="1335"/>
                <a:ext cx="329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  5</a:t>
                </a:r>
              </a:p>
            </p:txBody>
          </p:sp>
          <p:sp>
            <p:nvSpPr>
              <p:cNvPr id="309" name="Text Box 309"/>
              <p:cNvSpPr>
                <a:spLocks/>
              </p:cNvSpPr>
              <p:nvPr/>
            </p:nvSpPr>
            <p:spPr>
              <a:xfrm>
                <a:off x="841" y="1072"/>
                <a:ext cx="4406" cy="2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0          1          2           3           4            5            </a:t>
                </a:r>
              </a:p>
            </p:txBody>
          </p:sp>
          <p:sp>
            <p:nvSpPr>
              <p:cNvPr id="310" name="Text Box 310"/>
              <p:cNvSpPr>
                <a:spLocks/>
              </p:cNvSpPr>
              <p:nvPr/>
            </p:nvSpPr>
            <p:spPr>
              <a:xfrm>
                <a:off x="4132" y="1335"/>
                <a:ext cx="49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FF0033"/>
                    </a:solidFill>
                  </a:rPr>
                  <a:t>101</a:t>
                </a:r>
              </a:p>
            </p:txBody>
          </p:sp>
        </p:grpSp>
        <p:sp>
          <p:nvSpPr>
            <p:cNvPr id="311" name="Text Box 311"/>
            <p:cNvSpPr>
              <a:spLocks/>
            </p:cNvSpPr>
            <p:nvPr/>
          </p:nvSpPr>
          <p:spPr>
            <a:xfrm>
              <a:off x="668" y="1852"/>
              <a:ext cx="3360" cy="291"/>
            </a:xfrm>
            <a:prstGeom prst="rect">
              <a:avLst/>
            </a:prstGeom>
            <a:noFill/>
            <a:ln w="76200">
              <a:solidFill>
                <a:srgbClr val="00CCFF"/>
              </a:solidFill>
              <a:round/>
              <a:headEnd/>
              <a:tailEnd/>
            </a:ln>
            <a:effectLst/>
          </p:spPr>
        </p:sp>
      </p:grpSp>
      <p:grpSp>
        <p:nvGrpSpPr>
          <p:cNvPr id="313" name="Group 313"/>
          <p:cNvGrpSpPr>
            <a:grpSpLocks/>
          </p:cNvGrpSpPr>
          <p:nvPr/>
        </p:nvGrpSpPr>
        <p:grpSpPr>
          <a:xfrm>
            <a:off x="1055687" y="3449637"/>
            <a:ext cx="7312022" cy="882650"/>
            <a:chOff x="940" y="1661"/>
            <a:chExt cx="4606" cy="556"/>
          </a:xfrm>
        </p:grpSpPr>
        <p:grpSp>
          <p:nvGrpSpPr>
            <p:cNvPr id="314" name="Group 314"/>
            <p:cNvGrpSpPr>
              <a:grpSpLocks/>
            </p:cNvGrpSpPr>
            <p:nvPr/>
          </p:nvGrpSpPr>
          <p:grpSpPr>
            <a:xfrm>
              <a:off x="943" y="1661"/>
              <a:ext cx="4603" cy="556"/>
              <a:chOff x="641" y="1651"/>
              <a:chExt cx="4603" cy="556"/>
            </a:xfrm>
          </p:grpSpPr>
          <p:sp>
            <p:nvSpPr>
              <p:cNvPr id="315" name="Text Box 315"/>
              <p:cNvSpPr>
                <a:spLocks/>
              </p:cNvSpPr>
              <p:nvPr/>
            </p:nvSpPr>
            <p:spPr>
              <a:xfrm>
                <a:off x="641" y="1911"/>
                <a:ext cx="4106" cy="2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16" name="Text Box 316"/>
              <p:cNvSpPr>
                <a:spLocks/>
              </p:cNvSpPr>
              <p:nvPr/>
            </p:nvSpPr>
            <p:spPr>
              <a:xfrm>
                <a:off x="1277" y="1909"/>
                <a:ext cx="0" cy="2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17" name="Text Box 317"/>
              <p:cNvSpPr>
                <a:spLocks/>
              </p:cNvSpPr>
              <p:nvPr/>
            </p:nvSpPr>
            <p:spPr>
              <a:xfrm>
                <a:off x="1918" y="190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18" name="Text Box 318"/>
              <p:cNvSpPr>
                <a:spLocks/>
              </p:cNvSpPr>
              <p:nvPr/>
            </p:nvSpPr>
            <p:spPr>
              <a:xfrm>
                <a:off x="2572" y="190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19" name="Text Box 319"/>
              <p:cNvSpPr>
                <a:spLocks/>
              </p:cNvSpPr>
              <p:nvPr/>
            </p:nvSpPr>
            <p:spPr>
              <a:xfrm>
                <a:off x="3271" y="190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20" name="Text Box 320"/>
              <p:cNvSpPr>
                <a:spLocks/>
              </p:cNvSpPr>
              <p:nvPr/>
            </p:nvSpPr>
            <p:spPr>
              <a:xfrm>
                <a:off x="3998" y="1914"/>
                <a:ext cx="0" cy="2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21" name="Text Box 321"/>
              <p:cNvSpPr>
                <a:spLocks/>
              </p:cNvSpPr>
              <p:nvPr/>
            </p:nvSpPr>
            <p:spPr>
              <a:xfrm>
                <a:off x="2723" y="1914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 5</a:t>
                </a:r>
              </a:p>
            </p:txBody>
          </p:sp>
          <p:sp>
            <p:nvSpPr>
              <p:cNvPr id="322" name="Text Box 322"/>
              <p:cNvSpPr>
                <a:spLocks/>
              </p:cNvSpPr>
              <p:nvPr/>
            </p:nvSpPr>
            <p:spPr>
              <a:xfrm>
                <a:off x="2039" y="1919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42</a:t>
                </a:r>
              </a:p>
            </p:txBody>
          </p:sp>
          <p:sp>
            <p:nvSpPr>
              <p:cNvPr id="323" name="Text Box 323"/>
              <p:cNvSpPr>
                <a:spLocks/>
              </p:cNvSpPr>
              <p:nvPr/>
            </p:nvSpPr>
            <p:spPr>
              <a:xfrm>
                <a:off x="1355" y="1919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12</a:t>
                </a:r>
              </a:p>
            </p:txBody>
          </p:sp>
          <p:sp>
            <p:nvSpPr>
              <p:cNvPr id="324" name="Text Box 324"/>
              <p:cNvSpPr>
                <a:spLocks/>
              </p:cNvSpPr>
              <p:nvPr/>
            </p:nvSpPr>
            <p:spPr>
              <a:xfrm>
                <a:off x="745" y="1916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35</a:t>
                </a:r>
              </a:p>
            </p:txBody>
          </p:sp>
          <p:sp>
            <p:nvSpPr>
              <p:cNvPr id="325" name="Text Box 325"/>
              <p:cNvSpPr>
                <a:spLocks/>
              </p:cNvSpPr>
              <p:nvPr/>
            </p:nvSpPr>
            <p:spPr>
              <a:xfrm>
                <a:off x="3380" y="1914"/>
                <a:ext cx="383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FF0033"/>
                    </a:solidFill>
                  </a:rPr>
                  <a:t>77</a:t>
                </a:r>
              </a:p>
            </p:txBody>
          </p:sp>
          <p:sp>
            <p:nvSpPr>
              <p:cNvPr id="326" name="Text Box 326"/>
              <p:cNvSpPr>
                <a:spLocks/>
              </p:cNvSpPr>
              <p:nvPr/>
            </p:nvSpPr>
            <p:spPr>
              <a:xfrm>
                <a:off x="838" y="1651"/>
                <a:ext cx="4406" cy="2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0          1          2           3           4            5            </a:t>
                </a:r>
              </a:p>
            </p:txBody>
          </p:sp>
          <p:sp>
            <p:nvSpPr>
              <p:cNvPr id="327" name="Text Box 327"/>
              <p:cNvSpPr>
                <a:spLocks/>
              </p:cNvSpPr>
              <p:nvPr/>
            </p:nvSpPr>
            <p:spPr>
              <a:xfrm>
                <a:off x="4129" y="1914"/>
                <a:ext cx="49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FF0033"/>
                    </a:solidFill>
                  </a:rPr>
                  <a:t>101</a:t>
                </a:r>
              </a:p>
            </p:txBody>
          </p:sp>
        </p:grpSp>
        <p:sp>
          <p:nvSpPr>
            <p:cNvPr id="328" name="Text Box 328"/>
            <p:cNvSpPr>
              <a:spLocks/>
            </p:cNvSpPr>
            <p:nvPr/>
          </p:nvSpPr>
          <p:spPr>
            <a:xfrm>
              <a:off x="940" y="1919"/>
              <a:ext cx="2633" cy="291"/>
            </a:xfrm>
            <a:prstGeom prst="rect">
              <a:avLst/>
            </a:prstGeom>
            <a:noFill/>
            <a:ln w="76200">
              <a:solidFill>
                <a:srgbClr val="00CCFF"/>
              </a:solidFill>
              <a:round/>
              <a:headEnd/>
              <a:tailEnd/>
            </a:ln>
            <a:effectLst/>
          </p:spPr>
        </p:sp>
      </p:grpSp>
      <p:grpSp>
        <p:nvGrpSpPr>
          <p:cNvPr id="330" name="Group 330"/>
          <p:cNvGrpSpPr>
            <a:grpSpLocks/>
          </p:cNvGrpSpPr>
          <p:nvPr/>
        </p:nvGrpSpPr>
        <p:grpSpPr>
          <a:xfrm>
            <a:off x="1055687" y="4360862"/>
            <a:ext cx="7316790" cy="882650"/>
            <a:chOff x="940" y="2235"/>
            <a:chExt cx="4609" cy="556"/>
          </a:xfrm>
        </p:grpSpPr>
        <p:grpSp>
          <p:nvGrpSpPr>
            <p:cNvPr id="331" name="Group 331"/>
            <p:cNvGrpSpPr>
              <a:grpSpLocks/>
            </p:cNvGrpSpPr>
            <p:nvPr/>
          </p:nvGrpSpPr>
          <p:grpSpPr>
            <a:xfrm>
              <a:off x="946" y="2235"/>
              <a:ext cx="4603" cy="556"/>
              <a:chOff x="644" y="2225"/>
              <a:chExt cx="4603" cy="556"/>
            </a:xfrm>
          </p:grpSpPr>
          <p:sp>
            <p:nvSpPr>
              <p:cNvPr id="332" name="Text Box 332"/>
              <p:cNvSpPr>
                <a:spLocks/>
              </p:cNvSpPr>
              <p:nvPr/>
            </p:nvSpPr>
            <p:spPr>
              <a:xfrm>
                <a:off x="644" y="2485"/>
                <a:ext cx="4106" cy="2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33" name="Text Box 333"/>
              <p:cNvSpPr>
                <a:spLocks/>
              </p:cNvSpPr>
              <p:nvPr/>
            </p:nvSpPr>
            <p:spPr>
              <a:xfrm>
                <a:off x="1280" y="2483"/>
                <a:ext cx="0" cy="2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34" name="Text Box 334"/>
              <p:cNvSpPr>
                <a:spLocks/>
              </p:cNvSpPr>
              <p:nvPr/>
            </p:nvSpPr>
            <p:spPr>
              <a:xfrm>
                <a:off x="1921" y="2483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35" name="Text Box 335"/>
              <p:cNvSpPr>
                <a:spLocks/>
              </p:cNvSpPr>
              <p:nvPr/>
            </p:nvSpPr>
            <p:spPr>
              <a:xfrm>
                <a:off x="2575" y="2483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36" name="Text Box 336"/>
              <p:cNvSpPr>
                <a:spLocks/>
              </p:cNvSpPr>
              <p:nvPr/>
            </p:nvSpPr>
            <p:spPr>
              <a:xfrm>
                <a:off x="3274" y="2483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37" name="Text Box 337"/>
              <p:cNvSpPr>
                <a:spLocks/>
              </p:cNvSpPr>
              <p:nvPr/>
            </p:nvSpPr>
            <p:spPr>
              <a:xfrm>
                <a:off x="4001" y="2488"/>
                <a:ext cx="0" cy="2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38" name="Text Box 338"/>
              <p:cNvSpPr>
                <a:spLocks/>
              </p:cNvSpPr>
              <p:nvPr/>
            </p:nvSpPr>
            <p:spPr>
              <a:xfrm>
                <a:off x="2726" y="2488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>
                    <a:solidFill>
                      <a:srgbClr val="FF0033"/>
                    </a:solidFill>
                  </a:rPr>
                  <a:t>42</a:t>
                </a:r>
              </a:p>
            </p:txBody>
          </p:sp>
          <p:sp>
            <p:nvSpPr>
              <p:cNvPr id="339" name="Text Box 339"/>
              <p:cNvSpPr>
                <a:spLocks/>
              </p:cNvSpPr>
              <p:nvPr/>
            </p:nvSpPr>
            <p:spPr>
              <a:xfrm>
                <a:off x="2042" y="2493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 5</a:t>
                </a:r>
              </a:p>
            </p:txBody>
          </p:sp>
          <p:sp>
            <p:nvSpPr>
              <p:cNvPr id="340" name="Text Box 340"/>
              <p:cNvSpPr>
                <a:spLocks/>
              </p:cNvSpPr>
              <p:nvPr/>
            </p:nvSpPr>
            <p:spPr>
              <a:xfrm>
                <a:off x="1358" y="2493"/>
                <a:ext cx="383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 35</a:t>
                </a:r>
              </a:p>
            </p:txBody>
          </p:sp>
          <p:sp>
            <p:nvSpPr>
              <p:cNvPr id="341" name="Text Box 341"/>
              <p:cNvSpPr>
                <a:spLocks/>
              </p:cNvSpPr>
              <p:nvPr/>
            </p:nvSpPr>
            <p:spPr>
              <a:xfrm>
                <a:off x="748" y="2490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12</a:t>
                </a:r>
              </a:p>
            </p:txBody>
          </p:sp>
          <p:sp>
            <p:nvSpPr>
              <p:cNvPr id="342" name="Text Box 342"/>
              <p:cNvSpPr>
                <a:spLocks/>
              </p:cNvSpPr>
              <p:nvPr/>
            </p:nvSpPr>
            <p:spPr>
              <a:xfrm>
                <a:off x="3383" y="2488"/>
                <a:ext cx="383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FF0033"/>
                    </a:solidFill>
                  </a:rPr>
                  <a:t>77</a:t>
                </a:r>
              </a:p>
            </p:txBody>
          </p:sp>
          <p:sp>
            <p:nvSpPr>
              <p:cNvPr id="343" name="Text Box 343"/>
              <p:cNvSpPr>
                <a:spLocks/>
              </p:cNvSpPr>
              <p:nvPr/>
            </p:nvSpPr>
            <p:spPr>
              <a:xfrm>
                <a:off x="841" y="2225"/>
                <a:ext cx="4406" cy="2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0          1          2           3           4            5            </a:t>
                </a:r>
              </a:p>
            </p:txBody>
          </p:sp>
          <p:sp>
            <p:nvSpPr>
              <p:cNvPr id="344" name="Text Box 344"/>
              <p:cNvSpPr>
                <a:spLocks/>
              </p:cNvSpPr>
              <p:nvPr/>
            </p:nvSpPr>
            <p:spPr>
              <a:xfrm>
                <a:off x="4132" y="2488"/>
                <a:ext cx="49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FF0033"/>
                    </a:solidFill>
                  </a:rPr>
                  <a:t>101</a:t>
                </a:r>
              </a:p>
            </p:txBody>
          </p:sp>
        </p:grpSp>
        <p:sp>
          <p:nvSpPr>
            <p:cNvPr id="345" name="Text Box 345"/>
            <p:cNvSpPr>
              <a:spLocks/>
            </p:cNvSpPr>
            <p:nvPr/>
          </p:nvSpPr>
          <p:spPr>
            <a:xfrm>
              <a:off x="940" y="2500"/>
              <a:ext cx="1937" cy="291"/>
            </a:xfrm>
            <a:prstGeom prst="rect">
              <a:avLst/>
            </a:prstGeom>
            <a:noFill/>
            <a:ln w="76200">
              <a:solidFill>
                <a:srgbClr val="00CCFF"/>
              </a:solidFill>
              <a:round/>
              <a:headEnd/>
              <a:tailEnd/>
            </a:ln>
            <a:effectLst/>
          </p:spPr>
        </p:sp>
      </p:grpSp>
      <p:grpSp>
        <p:nvGrpSpPr>
          <p:cNvPr id="347" name="Group 347"/>
          <p:cNvGrpSpPr>
            <a:grpSpLocks/>
          </p:cNvGrpSpPr>
          <p:nvPr/>
        </p:nvGrpSpPr>
        <p:grpSpPr>
          <a:xfrm>
            <a:off x="1050925" y="5243512"/>
            <a:ext cx="7316790" cy="887412"/>
            <a:chOff x="937" y="2791"/>
            <a:chExt cx="4609" cy="559"/>
          </a:xfrm>
        </p:grpSpPr>
        <p:grpSp>
          <p:nvGrpSpPr>
            <p:cNvPr id="348" name="Group 348"/>
            <p:cNvGrpSpPr>
              <a:grpSpLocks/>
            </p:cNvGrpSpPr>
            <p:nvPr/>
          </p:nvGrpSpPr>
          <p:grpSpPr>
            <a:xfrm>
              <a:off x="943" y="2791"/>
              <a:ext cx="4603" cy="556"/>
              <a:chOff x="641" y="2781"/>
              <a:chExt cx="4603" cy="556"/>
            </a:xfrm>
          </p:grpSpPr>
          <p:sp>
            <p:nvSpPr>
              <p:cNvPr id="349" name="Text Box 349"/>
              <p:cNvSpPr>
                <a:spLocks/>
              </p:cNvSpPr>
              <p:nvPr/>
            </p:nvSpPr>
            <p:spPr>
              <a:xfrm>
                <a:off x="641" y="3041"/>
                <a:ext cx="4106" cy="2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50" name="Text Box 350"/>
              <p:cNvSpPr>
                <a:spLocks/>
              </p:cNvSpPr>
              <p:nvPr/>
            </p:nvSpPr>
            <p:spPr>
              <a:xfrm>
                <a:off x="1277" y="3039"/>
                <a:ext cx="0" cy="2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51" name="Text Box 351"/>
              <p:cNvSpPr>
                <a:spLocks/>
              </p:cNvSpPr>
              <p:nvPr/>
            </p:nvSpPr>
            <p:spPr>
              <a:xfrm>
                <a:off x="1918" y="303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52" name="Text Box 352"/>
              <p:cNvSpPr>
                <a:spLocks/>
              </p:cNvSpPr>
              <p:nvPr/>
            </p:nvSpPr>
            <p:spPr>
              <a:xfrm>
                <a:off x="2572" y="303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53" name="Text Box 353"/>
              <p:cNvSpPr>
                <a:spLocks/>
              </p:cNvSpPr>
              <p:nvPr/>
            </p:nvSpPr>
            <p:spPr>
              <a:xfrm>
                <a:off x="3271" y="303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54" name="Text Box 354"/>
              <p:cNvSpPr>
                <a:spLocks/>
              </p:cNvSpPr>
              <p:nvPr/>
            </p:nvSpPr>
            <p:spPr>
              <a:xfrm>
                <a:off x="3998" y="3044"/>
                <a:ext cx="0" cy="2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sp>
          <p:sp>
            <p:nvSpPr>
              <p:cNvPr id="355" name="Text Box 355"/>
              <p:cNvSpPr>
                <a:spLocks/>
              </p:cNvSpPr>
              <p:nvPr/>
            </p:nvSpPr>
            <p:spPr>
              <a:xfrm>
                <a:off x="2723" y="3044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>
                    <a:solidFill>
                      <a:srgbClr val="FF0033"/>
                    </a:solidFill>
                  </a:rPr>
                  <a:t>42</a:t>
                </a:r>
              </a:p>
            </p:txBody>
          </p:sp>
          <p:sp>
            <p:nvSpPr>
              <p:cNvPr id="356" name="Text Box 356"/>
              <p:cNvSpPr>
                <a:spLocks/>
              </p:cNvSpPr>
              <p:nvPr/>
            </p:nvSpPr>
            <p:spPr>
              <a:xfrm>
                <a:off x="2039" y="3049"/>
                <a:ext cx="383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FF0033"/>
                    </a:solidFill>
                  </a:rPr>
                  <a:t>35</a:t>
                </a:r>
              </a:p>
            </p:txBody>
          </p:sp>
          <p:sp>
            <p:nvSpPr>
              <p:cNvPr id="357" name="Text Box 357"/>
              <p:cNvSpPr>
                <a:spLocks/>
              </p:cNvSpPr>
              <p:nvPr/>
            </p:nvSpPr>
            <p:spPr>
              <a:xfrm>
                <a:off x="1355" y="3049"/>
                <a:ext cx="329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  5</a:t>
                </a:r>
              </a:p>
            </p:txBody>
          </p:sp>
          <p:sp>
            <p:nvSpPr>
              <p:cNvPr id="358" name="Text Box 358"/>
              <p:cNvSpPr>
                <a:spLocks/>
              </p:cNvSpPr>
              <p:nvPr/>
            </p:nvSpPr>
            <p:spPr>
              <a:xfrm>
                <a:off x="745" y="3046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12</a:t>
                </a:r>
              </a:p>
            </p:txBody>
          </p:sp>
          <p:sp>
            <p:nvSpPr>
              <p:cNvPr id="359" name="Text Box 359"/>
              <p:cNvSpPr>
                <a:spLocks/>
              </p:cNvSpPr>
              <p:nvPr/>
            </p:nvSpPr>
            <p:spPr>
              <a:xfrm>
                <a:off x="3380" y="3044"/>
                <a:ext cx="383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FF0033"/>
                    </a:solidFill>
                  </a:rPr>
                  <a:t>77</a:t>
                </a:r>
              </a:p>
            </p:txBody>
          </p:sp>
          <p:sp>
            <p:nvSpPr>
              <p:cNvPr id="360" name="Text Box 360"/>
              <p:cNvSpPr>
                <a:spLocks/>
              </p:cNvSpPr>
              <p:nvPr/>
            </p:nvSpPr>
            <p:spPr>
              <a:xfrm>
                <a:off x="838" y="2781"/>
                <a:ext cx="4406" cy="2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0          1          2           3           4            5            </a:t>
                </a:r>
              </a:p>
            </p:txBody>
          </p:sp>
          <p:sp>
            <p:nvSpPr>
              <p:cNvPr id="361" name="Text Box 361"/>
              <p:cNvSpPr>
                <a:spLocks/>
              </p:cNvSpPr>
              <p:nvPr/>
            </p:nvSpPr>
            <p:spPr>
              <a:xfrm>
                <a:off x="4129" y="3044"/>
                <a:ext cx="49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 numCol="1">
                <a:spAutoFit/>
              </a:bodyPr>
              <a:lstStyle/>
              <a:p>
                <a:pPr marL="0" indent="0"/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FF0033"/>
                    </a:solidFill>
                  </a:rPr>
                  <a:t>101</a:t>
                </a:r>
              </a:p>
            </p:txBody>
          </p:sp>
        </p:grpSp>
        <p:sp>
          <p:nvSpPr>
            <p:cNvPr id="362" name="Text Box 362"/>
            <p:cNvSpPr>
              <a:spLocks/>
            </p:cNvSpPr>
            <p:nvPr/>
          </p:nvSpPr>
          <p:spPr>
            <a:xfrm>
              <a:off x="937" y="3059"/>
              <a:ext cx="1283" cy="291"/>
            </a:xfrm>
            <a:prstGeom prst="rect">
              <a:avLst/>
            </a:prstGeom>
            <a:noFill/>
            <a:ln w="76200">
              <a:solidFill>
                <a:srgbClr val="00CCFF"/>
              </a:solidFill>
              <a:round/>
              <a:headEnd/>
              <a:tailEnd/>
            </a:ln>
            <a:effectLst/>
          </p:spPr>
        </p:sp>
      </p:grpSp>
      <p:sp>
        <p:nvSpPr>
          <p:cNvPr id="363" name="Text Box 363"/>
          <p:cNvSpPr>
            <a:spLocks/>
          </p:cNvSpPr>
          <p:nvPr/>
        </p:nvSpPr>
        <p:spPr>
          <a:xfrm>
            <a:off x="1065212" y="2108200"/>
            <a:ext cx="6518275" cy="461962"/>
          </a:xfrm>
          <a:prstGeom prst="rect">
            <a:avLst/>
          </a:prstGeom>
          <a:noFill/>
          <a:ln w="76200">
            <a:solidFill>
              <a:srgbClr val="00CCFF"/>
            </a:solidFill>
            <a:round/>
            <a:headEnd/>
            <a:tailEnd/>
          </a:ln>
          <a:effectLst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Box 364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866775"/>
          </a:xfrm>
          <a:prstGeom prst="rect">
            <a:avLst/>
          </a:prstGeom>
        </p:spPr>
        <p:txBody>
          <a:bodyPr numCol="1"/>
          <a:lstStyle/>
          <a:p>
            <a:r>
              <a:t>Reducing the Number of Comparisons</a:t>
            </a:r>
          </a:p>
        </p:txBody>
      </p:sp>
      <p:sp>
        <p:nvSpPr>
          <p:cNvPr id="365" name="Text Box 365"/>
          <p:cNvSpPr>
            <a:spLocks noGrp="1"/>
          </p:cNvSpPr>
          <p:nvPr>
            <p:ph type="body" idx="1"/>
          </p:nvPr>
        </p:nvSpPr>
        <p:spPr>
          <a:xfrm>
            <a:off x="685800" y="1476375"/>
            <a:ext cx="7772400" cy="4619625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b="1" dirty="0"/>
              <a:t>On the N</a:t>
            </a:r>
            <a:r>
              <a:rPr lang="en-US" b="1" baseline="30000" dirty="0"/>
              <a:t>th</a:t>
            </a:r>
            <a:r>
              <a:rPr lang="en-US" b="1" dirty="0"/>
              <a:t> “bubble up”, we only need to </a:t>
            </a:r>
            <a:br>
              <a:rPr lang="en-US" b="1" dirty="0"/>
            </a:br>
            <a:r>
              <a:rPr lang="en-US" b="1" dirty="0"/>
              <a:t>do </a:t>
            </a:r>
            <a:r>
              <a:rPr lang="en-US" b="1" dirty="0">
                <a:solidFill>
                  <a:srgbClr val="3333FF"/>
                </a:solidFill>
              </a:rPr>
              <a:t>MAX-N comparisons</a:t>
            </a:r>
            <a:r>
              <a:rPr lang="en-US" b="1" dirty="0"/>
              <a:t>.</a:t>
            </a:r>
          </a:p>
          <a:p>
            <a:pPr marL="342900" indent="-342900"/>
            <a:endParaRPr lang="en-US" b="1" dirty="0"/>
          </a:p>
          <a:p>
            <a:pPr marL="342900" indent="-342900"/>
            <a:r>
              <a:rPr lang="en-US" b="1" dirty="0"/>
              <a:t>For example:</a:t>
            </a:r>
          </a:p>
          <a:p>
            <a:pPr marL="742950" lvl="1" indent="-285750"/>
            <a:r>
              <a:rPr lang="en-US" b="1" dirty="0"/>
              <a:t>This is the 4</a:t>
            </a:r>
            <a:r>
              <a:rPr lang="en-US" b="1" baseline="30000" dirty="0"/>
              <a:t>th</a:t>
            </a:r>
            <a:r>
              <a:rPr lang="en-US" b="1" dirty="0"/>
              <a:t> “bubble up”</a:t>
            </a:r>
          </a:p>
          <a:p>
            <a:pPr marL="742950" lvl="1" indent="-285750"/>
            <a:r>
              <a:rPr lang="en-US" b="1" dirty="0"/>
              <a:t>MAX is 6</a:t>
            </a:r>
          </a:p>
          <a:p>
            <a:pPr marL="742950" lvl="1" indent="-285750"/>
            <a:r>
              <a:rPr lang="en-US" b="1" dirty="0"/>
              <a:t>Thus we have </a:t>
            </a:r>
            <a:r>
              <a:rPr lang="en-US" b="1" dirty="0">
                <a:solidFill>
                  <a:srgbClr val="3333FF"/>
                </a:solidFill>
              </a:rPr>
              <a:t>2 comparisons</a:t>
            </a:r>
            <a:r>
              <a:rPr lang="en-US" b="1" dirty="0"/>
              <a:t> to do</a:t>
            </a:r>
          </a:p>
        </p:txBody>
      </p:sp>
      <p:grpSp>
        <p:nvGrpSpPr>
          <p:cNvPr id="367" name="Group 367"/>
          <p:cNvGrpSpPr>
            <a:grpSpLocks/>
          </p:cNvGrpSpPr>
          <p:nvPr/>
        </p:nvGrpSpPr>
        <p:grpSpPr>
          <a:xfrm>
            <a:off x="1284287" y="4660900"/>
            <a:ext cx="7307265" cy="882650"/>
            <a:chOff x="641" y="2781"/>
            <a:chExt cx="4603" cy="556"/>
          </a:xfrm>
        </p:grpSpPr>
        <p:sp>
          <p:nvSpPr>
            <p:cNvPr id="368" name="Text Box 368"/>
            <p:cNvSpPr>
              <a:spLocks/>
            </p:cNvSpPr>
            <p:nvPr/>
          </p:nvSpPr>
          <p:spPr>
            <a:xfrm>
              <a:off x="641" y="304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369" name="Text Box 369"/>
            <p:cNvSpPr>
              <a:spLocks/>
            </p:cNvSpPr>
            <p:nvPr/>
          </p:nvSpPr>
          <p:spPr>
            <a:xfrm>
              <a:off x="1277" y="303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370" name="Text Box 370"/>
            <p:cNvSpPr>
              <a:spLocks/>
            </p:cNvSpPr>
            <p:nvPr/>
          </p:nvSpPr>
          <p:spPr>
            <a:xfrm>
              <a:off x="1918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371" name="Text Box 371"/>
            <p:cNvSpPr>
              <a:spLocks/>
            </p:cNvSpPr>
            <p:nvPr/>
          </p:nvSpPr>
          <p:spPr>
            <a:xfrm>
              <a:off x="2572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372" name="Text Box 372"/>
            <p:cNvSpPr>
              <a:spLocks/>
            </p:cNvSpPr>
            <p:nvPr/>
          </p:nvSpPr>
          <p:spPr>
            <a:xfrm>
              <a:off x="3271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373" name="Text Box 373"/>
            <p:cNvSpPr>
              <a:spLocks/>
            </p:cNvSpPr>
            <p:nvPr/>
          </p:nvSpPr>
          <p:spPr>
            <a:xfrm>
              <a:off x="3998" y="304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374" name="Text Box 374"/>
            <p:cNvSpPr>
              <a:spLocks/>
            </p:cNvSpPr>
            <p:nvPr/>
          </p:nvSpPr>
          <p:spPr>
            <a:xfrm>
              <a:off x="2723" y="304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>
                  <a:solidFill>
                    <a:srgbClr val="FF0033"/>
                  </a:solidFill>
                </a:rPr>
                <a:t>42</a:t>
              </a:r>
            </a:p>
          </p:txBody>
        </p:sp>
        <p:sp>
          <p:nvSpPr>
            <p:cNvPr id="375" name="Text Box 375"/>
            <p:cNvSpPr>
              <a:spLocks/>
            </p:cNvSpPr>
            <p:nvPr/>
          </p:nvSpPr>
          <p:spPr>
            <a:xfrm>
              <a:off x="2039" y="3049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5</a:t>
              </a:r>
            </a:p>
          </p:txBody>
        </p:sp>
        <p:sp>
          <p:nvSpPr>
            <p:cNvPr id="376" name="Text Box 376"/>
            <p:cNvSpPr>
              <a:spLocks/>
            </p:cNvSpPr>
            <p:nvPr/>
          </p:nvSpPr>
          <p:spPr>
            <a:xfrm>
              <a:off x="1355" y="3049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 35</a:t>
              </a:r>
            </a:p>
          </p:txBody>
        </p:sp>
        <p:sp>
          <p:nvSpPr>
            <p:cNvPr id="377" name="Text Box 377"/>
            <p:cNvSpPr>
              <a:spLocks/>
            </p:cNvSpPr>
            <p:nvPr/>
          </p:nvSpPr>
          <p:spPr>
            <a:xfrm>
              <a:off x="745" y="3046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12</a:t>
              </a:r>
            </a:p>
          </p:txBody>
        </p:sp>
        <p:sp>
          <p:nvSpPr>
            <p:cNvPr id="378" name="Text Box 378"/>
            <p:cNvSpPr>
              <a:spLocks/>
            </p:cNvSpPr>
            <p:nvPr/>
          </p:nvSpPr>
          <p:spPr>
            <a:xfrm>
              <a:off x="3380" y="3044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FF0033"/>
                  </a:solidFill>
                </a:rPr>
                <a:t>77</a:t>
              </a:r>
            </a:p>
          </p:txBody>
        </p:sp>
        <p:sp>
          <p:nvSpPr>
            <p:cNvPr id="379" name="Text Box 379"/>
            <p:cNvSpPr>
              <a:spLocks/>
            </p:cNvSpPr>
            <p:nvPr/>
          </p:nvSpPr>
          <p:spPr>
            <a:xfrm>
              <a:off x="838" y="2781"/>
              <a:ext cx="440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0          1          2           3           4            5            </a:t>
              </a:r>
            </a:p>
          </p:txBody>
        </p:sp>
        <p:sp>
          <p:nvSpPr>
            <p:cNvPr id="380" name="Text Box 380"/>
            <p:cNvSpPr>
              <a:spLocks/>
            </p:cNvSpPr>
            <p:nvPr/>
          </p:nvSpPr>
          <p:spPr>
            <a:xfrm>
              <a:off x="4129" y="304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</a:t>
              </a:r>
              <a:r>
                <a:rPr lang="en-US" b="1" dirty="0">
                  <a:solidFill>
                    <a:srgbClr val="FF0033"/>
                  </a:solidFill>
                </a:rPr>
                <a:t>101</a:t>
              </a:r>
            </a:p>
          </p:txBody>
        </p:sp>
      </p:grpSp>
      <p:sp>
        <p:nvSpPr>
          <p:cNvPr id="381" name="Text Box 381"/>
          <p:cNvSpPr>
            <a:spLocks/>
          </p:cNvSpPr>
          <p:nvPr/>
        </p:nvSpPr>
        <p:spPr>
          <a:xfrm>
            <a:off x="1274762" y="5086350"/>
            <a:ext cx="3074987" cy="461962"/>
          </a:xfrm>
          <a:prstGeom prst="rect">
            <a:avLst/>
          </a:prstGeom>
          <a:noFill/>
          <a:ln w="76200">
            <a:solidFill>
              <a:srgbClr val="00CCFF"/>
            </a:solidFill>
            <a:round/>
            <a:headEnd/>
            <a:tailEnd/>
          </a:ln>
          <a:effectLst/>
        </p:spPr>
      </p:sp>
      <p:sp>
        <p:nvSpPr>
          <p:cNvPr id="382" name="Text Box 382"/>
          <p:cNvSpPr>
            <a:spLocks/>
          </p:cNvSpPr>
          <p:nvPr/>
        </p:nvSpPr>
        <p:spPr>
          <a:xfrm rot="-5400000">
            <a:off x="2132012" y="5151437"/>
            <a:ext cx="273050" cy="1343025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383" name="Text Box 383"/>
          <p:cNvSpPr>
            <a:spLocks/>
          </p:cNvSpPr>
          <p:nvPr/>
        </p:nvSpPr>
        <p:spPr>
          <a:xfrm rot="-5400000">
            <a:off x="3175000" y="5424487"/>
            <a:ext cx="273050" cy="1343025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Text Box 39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Already Sorted Collections?</a:t>
            </a:r>
          </a:p>
        </p:txBody>
      </p:sp>
      <p:sp>
        <p:nvSpPr>
          <p:cNvPr id="396" name="Text Box 396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b="1" dirty="0"/>
              <a:t>What if the collection was already sorted?</a:t>
            </a:r>
          </a:p>
          <a:p>
            <a:pPr marL="342900" indent="-342900"/>
            <a:r>
              <a:rPr lang="en-US" b="1" dirty="0"/>
              <a:t>What if only a few elements were out of place and after a couple of “bubble ups,” the collection was sorted?</a:t>
            </a:r>
          </a:p>
          <a:p>
            <a:pPr marL="342900" indent="-342900"/>
            <a:endParaRPr lang="en-US" b="1" dirty="0"/>
          </a:p>
          <a:p>
            <a:pPr marL="342900" indent="-342900"/>
            <a:r>
              <a:rPr lang="en-US" b="1" dirty="0"/>
              <a:t>We want to be able to </a:t>
            </a:r>
            <a:r>
              <a:rPr lang="en-US" b="1" dirty="0">
                <a:solidFill>
                  <a:srgbClr val="3333FF"/>
                </a:solidFill>
              </a:rPr>
              <a:t>detect this </a:t>
            </a:r>
            <a:br>
              <a:rPr lang="en-US" b="1" dirty="0">
                <a:solidFill>
                  <a:srgbClr val="3333FF"/>
                </a:solidFill>
              </a:rPr>
            </a:br>
            <a:r>
              <a:rPr lang="en-US" b="1" dirty="0">
                <a:solidFill>
                  <a:srgbClr val="3333FF"/>
                </a:solidFill>
              </a:rPr>
              <a:t>and “stop early”!</a:t>
            </a:r>
          </a:p>
        </p:txBody>
      </p:sp>
      <p:grpSp>
        <p:nvGrpSpPr>
          <p:cNvPr id="398" name="Group 398"/>
          <p:cNvGrpSpPr>
            <a:grpSpLocks/>
          </p:cNvGrpSpPr>
          <p:nvPr/>
        </p:nvGrpSpPr>
        <p:grpSpPr>
          <a:xfrm>
            <a:off x="1293812" y="4705350"/>
            <a:ext cx="7307265" cy="882650"/>
            <a:chOff x="641" y="3361"/>
            <a:chExt cx="4603" cy="556"/>
          </a:xfrm>
        </p:grpSpPr>
        <p:sp>
          <p:nvSpPr>
            <p:cNvPr id="399" name="Text Box 399"/>
            <p:cNvSpPr>
              <a:spLocks/>
            </p:cNvSpPr>
            <p:nvPr/>
          </p:nvSpPr>
          <p:spPr>
            <a:xfrm>
              <a:off x="641" y="362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400" name="Text Box 400"/>
            <p:cNvSpPr>
              <a:spLocks/>
            </p:cNvSpPr>
            <p:nvPr/>
          </p:nvSpPr>
          <p:spPr>
            <a:xfrm>
              <a:off x="1277" y="361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401" name="Text Box 401"/>
            <p:cNvSpPr>
              <a:spLocks/>
            </p:cNvSpPr>
            <p:nvPr/>
          </p:nvSpPr>
          <p:spPr>
            <a:xfrm>
              <a:off x="1918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402" name="Text Box 402"/>
            <p:cNvSpPr>
              <a:spLocks/>
            </p:cNvSpPr>
            <p:nvPr/>
          </p:nvSpPr>
          <p:spPr>
            <a:xfrm>
              <a:off x="2572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403" name="Text Box 403"/>
            <p:cNvSpPr>
              <a:spLocks/>
            </p:cNvSpPr>
            <p:nvPr/>
          </p:nvSpPr>
          <p:spPr>
            <a:xfrm>
              <a:off x="3271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404" name="Text Box 404"/>
            <p:cNvSpPr>
              <a:spLocks/>
            </p:cNvSpPr>
            <p:nvPr/>
          </p:nvSpPr>
          <p:spPr>
            <a:xfrm>
              <a:off x="3998" y="362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405" name="Text Box 405"/>
            <p:cNvSpPr>
              <a:spLocks/>
            </p:cNvSpPr>
            <p:nvPr/>
          </p:nvSpPr>
          <p:spPr>
            <a:xfrm>
              <a:off x="2723" y="362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42</a:t>
              </a:r>
            </a:p>
          </p:txBody>
        </p:sp>
        <p:sp>
          <p:nvSpPr>
            <p:cNvPr id="406" name="Text Box 406"/>
            <p:cNvSpPr>
              <a:spLocks/>
            </p:cNvSpPr>
            <p:nvPr/>
          </p:nvSpPr>
          <p:spPr>
            <a:xfrm>
              <a:off x="2039" y="3629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35</a:t>
              </a:r>
            </a:p>
          </p:txBody>
        </p:sp>
        <p:sp>
          <p:nvSpPr>
            <p:cNvPr id="407" name="Text Box 407"/>
            <p:cNvSpPr>
              <a:spLocks/>
            </p:cNvSpPr>
            <p:nvPr/>
          </p:nvSpPr>
          <p:spPr>
            <a:xfrm>
              <a:off x="1355" y="3629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12</a:t>
              </a:r>
            </a:p>
          </p:txBody>
        </p:sp>
        <p:sp>
          <p:nvSpPr>
            <p:cNvPr id="408" name="Text Box 408"/>
            <p:cNvSpPr>
              <a:spLocks/>
            </p:cNvSpPr>
            <p:nvPr/>
          </p:nvSpPr>
          <p:spPr>
            <a:xfrm>
              <a:off x="745" y="3626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5</a:t>
              </a:r>
            </a:p>
          </p:txBody>
        </p:sp>
        <p:sp>
          <p:nvSpPr>
            <p:cNvPr id="409" name="Text Box 409"/>
            <p:cNvSpPr>
              <a:spLocks/>
            </p:cNvSpPr>
            <p:nvPr/>
          </p:nvSpPr>
          <p:spPr>
            <a:xfrm>
              <a:off x="3380" y="3624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77</a:t>
              </a:r>
            </a:p>
          </p:txBody>
        </p:sp>
        <p:sp>
          <p:nvSpPr>
            <p:cNvPr id="410" name="Text Box 410"/>
            <p:cNvSpPr>
              <a:spLocks/>
            </p:cNvSpPr>
            <p:nvPr/>
          </p:nvSpPr>
          <p:spPr>
            <a:xfrm>
              <a:off x="838" y="3361"/>
              <a:ext cx="440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0          1           2          3           4            5            </a:t>
              </a:r>
            </a:p>
          </p:txBody>
        </p:sp>
        <p:sp>
          <p:nvSpPr>
            <p:cNvPr id="411" name="Text Box 411"/>
            <p:cNvSpPr>
              <a:spLocks/>
            </p:cNvSpPr>
            <p:nvPr/>
          </p:nvSpPr>
          <p:spPr>
            <a:xfrm>
              <a:off x="4129" y="362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 101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 Box 41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Using a Boolean “Flag”</a:t>
            </a:r>
          </a:p>
        </p:txBody>
      </p:sp>
      <p:sp>
        <p:nvSpPr>
          <p:cNvPr id="413" name="Text Box 41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b="1" dirty="0"/>
              <a:t>We can use a boolean variable to determine if any swapping occurred during the “bubble up.”</a:t>
            </a:r>
          </a:p>
          <a:p>
            <a:pPr marL="342900" indent="-342900"/>
            <a:endParaRPr lang="en-US" b="1" dirty="0"/>
          </a:p>
          <a:p>
            <a:pPr marL="342900" indent="-342900"/>
            <a:r>
              <a:rPr lang="en-US" b="1" dirty="0">
                <a:solidFill>
                  <a:srgbClr val="3333FF"/>
                </a:solidFill>
              </a:rPr>
              <a:t>If no swapping occurred, then we know that the collection is already sorted!</a:t>
            </a:r>
          </a:p>
          <a:p>
            <a:pPr marL="342900" indent="-342900"/>
            <a:endParaRPr lang="en-US" b="1" dirty="0">
              <a:solidFill>
                <a:srgbClr val="3333FF"/>
              </a:solidFill>
            </a:endParaRPr>
          </a:p>
          <a:p>
            <a:pPr marL="342900" indent="-342900"/>
            <a:r>
              <a:rPr lang="en-US" b="1" dirty="0"/>
              <a:t>This boolean “flag” needs to be reset after each “bubble up.”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Office">
      <a:dk1>
        <a:srgbClr val="000000"/>
      </a:dk1>
      <a:lt1>
        <a:srgbClr val="FAFFD9"/>
      </a:lt1>
      <a:dk2>
        <a:srgbClr val="3333FF"/>
      </a:dk2>
      <a:lt2>
        <a:srgbClr val="000000"/>
      </a:lt2>
      <a:accent1>
        <a:srgbClr val="FF9900"/>
      </a:accent1>
      <a:accent2>
        <a:srgbClr val="00FFFF"/>
      </a:accent2>
      <a:accent3>
        <a:srgbClr val="FAFFD9"/>
      </a:accent3>
      <a:accent4>
        <a:srgbClr val="FF9900"/>
      </a:accent4>
      <a:accent5>
        <a:srgbClr val="00FFFF"/>
      </a:accent5>
      <a:accent6>
        <a:srgbClr val="FAFFD9"/>
      </a:accent6>
      <a:hlink>
        <a:srgbClr val="FF0033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826</Words>
  <Application>Microsoft Office PowerPoint</Application>
  <PresentationFormat>On-screen Show (4:3)</PresentationFormat>
  <Paragraphs>233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Default Design</vt:lpstr>
      <vt:lpstr>Bubble Sort</vt:lpstr>
      <vt:lpstr>Sorting</vt:lpstr>
      <vt:lpstr>"Bubbling Up" the Largest Element</vt:lpstr>
      <vt:lpstr>"Bubbling Up" the Largest Element</vt:lpstr>
      <vt:lpstr>"Bubbling Up" the Largest Element</vt:lpstr>
      <vt:lpstr>"Bubbling Up" the Largest Element</vt:lpstr>
      <vt:lpstr>"Bubbling Up" the Largest Element</vt:lpstr>
      <vt:lpstr>"Bubbling Up" the Largest Element</vt:lpstr>
      <vt:lpstr>"Bubbling Up" the Largest Element</vt:lpstr>
      <vt:lpstr>Items of Interest</vt:lpstr>
      <vt:lpstr>Repeat “Bubble Up” How Many Times?</vt:lpstr>
      <vt:lpstr>“Bubbling” All the Elements</vt:lpstr>
      <vt:lpstr>Reducing the Number of Comparisons</vt:lpstr>
      <vt:lpstr>Reducing the Number of Comparisons</vt:lpstr>
      <vt:lpstr>Already Sorted Collections?</vt:lpstr>
      <vt:lpstr>Using a Boolean “Flag”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Bubble Sort</dc:title>
  <dc:creator>Bob Slotpole</dc:creator>
  <cp:lastModifiedBy>Bob Slotpole</cp:lastModifiedBy>
  <cp:revision>2</cp:revision>
  <dcterms:modified xsi:type="dcterms:W3CDTF">2025-11-02T18:12:38Z</dcterms:modified>
</cp:coreProperties>
</file>